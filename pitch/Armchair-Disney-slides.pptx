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4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flywhe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04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74152" y="3840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9F3F5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Armchair</a:t>
            </a:r>
            <a:pPr algn="r" indent="0" marL="0">
              <a:buNone/>
            </a:pPr>
            <a:r>
              <a:rPr lang="en-US" sz="1400" b="1" dirty="0">
                <a:solidFill>
                  <a:srgbClr val="F5294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·</a:t>
            </a:r>
            <a:pPr algn="r" indent="0" marL="0">
              <a:buNone/>
            </a:pPr>
            <a:r>
              <a:rPr lang="en-US" sz="1400" b="1" dirty="0">
                <a:solidFill>
                  <a:srgbClr val="F9F3F5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Experts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074152" y="67665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100" kern="0" dirty="0">
                <a:solidFill>
                  <a:srgbClr val="A57E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STREAMING PARTNER · </a:t>
            </a:r>
            <a:pPr algn="r" indent="0" marL="0">
              <a:buNone/>
            </a:pPr>
            <a:r>
              <a:rPr lang="en-US" sz="950" b="1" spc="100" kern="0" dirty="0">
                <a:solidFill>
                  <a:srgbClr val="5AA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Disney+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AUDIENCE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38912" y="749808"/>
            <a:ext cx="8412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4100" b="1" dirty="0">
                <a:solidFill>
                  <a:srgbClr val="F9F3F5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Who Disney+ is really buying</a:t>
            </a:r>
            <a:endParaRPr lang="en-US" sz="4100" dirty="0"/>
          </a:p>
        </p:txBody>
      </p:sp>
      <p:sp>
        <p:nvSpPr>
          <p:cNvPr id="6" name="Text 4"/>
          <p:cNvSpPr/>
          <p:nvPr/>
        </p:nvSpPr>
        <p:spPr>
          <a:xfrm>
            <a:off x="457200" y="1938528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DCC3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impressions — a pre-qualified pool of streaming-ready NFL fans, indexed exactly where the league wants Australian growth.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697480"/>
            <a:ext cx="2695194" cy="1417320"/>
          </a:xfrm>
          <a:prstGeom prst="roundRect">
            <a:avLst>
              <a:gd name="adj" fmla="val 5806"/>
            </a:avLst>
          </a:prstGeom>
          <a:solidFill>
            <a:srgbClr val="1E0C13"/>
          </a:solidFill>
          <a:ln w="12700">
            <a:solidFill>
              <a:srgbClr val="43202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03504" y="2825496"/>
            <a:ext cx="2402586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3400" b="1" dirty="0">
                <a:solidFill>
                  <a:srgbClr val="F5294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000k</a:t>
            </a:r>
            <a:endParaRPr lang="en-US" sz="3400" dirty="0"/>
          </a:p>
          <a:p>
            <a:pPr indent="0" marL="0">
              <a:lnSpc>
                <a:spcPct val="98000"/>
              </a:lnSpc>
              <a:spcBef>
                <a:spcPts val="600"/>
              </a:spcBef>
              <a:buNone/>
            </a:pPr>
            <a:r>
              <a:rPr lang="en-US" sz="1250" b="1" dirty="0">
                <a:solidFill>
                  <a:srgbClr val="F9F3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audience</a:t>
            </a:r>
            <a:endParaRPr lang="en-US" sz="3400" dirty="0"/>
          </a:p>
          <a:p>
            <a:pPr indent="0" marL="0">
              <a:lnSpc>
                <a:spcPct val="98000"/>
              </a:lnSpc>
              <a:spcBef>
                <a:spcPts val="300"/>
              </a:spcBef>
              <a:buNone/>
            </a:pPr>
            <a:r>
              <a:rPr lang="en-US" sz="950" dirty="0">
                <a:solidFill>
                  <a:srgbClr val="A57E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Across audio, video &amp; social</a:t>
            </a:r>
            <a:endParaRPr lang="en-US" sz="3400" dirty="0"/>
          </a:p>
        </p:txBody>
      </p:sp>
      <p:sp>
        <p:nvSpPr>
          <p:cNvPr id="9" name="Shape 7"/>
          <p:cNvSpPr/>
          <p:nvPr/>
        </p:nvSpPr>
        <p:spPr>
          <a:xfrm>
            <a:off x="3316986" y="2697480"/>
            <a:ext cx="2695194" cy="1417320"/>
          </a:xfrm>
          <a:prstGeom prst="roundRect">
            <a:avLst>
              <a:gd name="adj" fmla="val 5806"/>
            </a:avLst>
          </a:prstGeom>
          <a:solidFill>
            <a:srgbClr val="1E0C13"/>
          </a:solidFill>
          <a:ln w="12700">
            <a:solidFill>
              <a:srgbClr val="43202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63290" y="2825496"/>
            <a:ext cx="2402586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3400" b="1" dirty="0">
                <a:solidFill>
                  <a:srgbClr val="F5294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00%</a:t>
            </a:r>
            <a:endParaRPr lang="en-US" sz="3400" dirty="0"/>
          </a:p>
          <a:p>
            <a:pPr indent="0" marL="0">
              <a:lnSpc>
                <a:spcPct val="98000"/>
              </a:lnSpc>
              <a:spcBef>
                <a:spcPts val="600"/>
              </a:spcBef>
              <a:buNone/>
            </a:pPr>
            <a:r>
              <a:rPr lang="en-US" sz="1250" b="1" dirty="0">
                <a:solidFill>
                  <a:srgbClr val="F9F3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Watch-through</a:t>
            </a:r>
            <a:endParaRPr lang="en-US" sz="3400" dirty="0"/>
          </a:p>
          <a:p>
            <a:pPr indent="0" marL="0">
              <a:lnSpc>
                <a:spcPct val="98000"/>
              </a:lnSpc>
              <a:spcBef>
                <a:spcPts val="300"/>
              </a:spcBef>
              <a:buNone/>
            </a:pPr>
            <a:r>
              <a:rPr lang="en-US" sz="950" dirty="0">
                <a:solidFill>
                  <a:srgbClr val="A57E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completion on the video show</a:t>
            </a:r>
            <a:endParaRPr lang="en-US" sz="3400" dirty="0"/>
          </a:p>
        </p:txBody>
      </p:sp>
      <p:sp>
        <p:nvSpPr>
          <p:cNvPr id="11" name="Shape 9"/>
          <p:cNvSpPr/>
          <p:nvPr/>
        </p:nvSpPr>
        <p:spPr>
          <a:xfrm>
            <a:off x="6176772" y="2697480"/>
            <a:ext cx="2695194" cy="1417320"/>
          </a:xfrm>
          <a:prstGeom prst="roundRect">
            <a:avLst>
              <a:gd name="adj" fmla="val 5806"/>
            </a:avLst>
          </a:prstGeom>
          <a:solidFill>
            <a:srgbClr val="1E0C13"/>
          </a:solidFill>
          <a:ln w="12700">
            <a:solidFill>
              <a:srgbClr val="43202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23076" y="2825496"/>
            <a:ext cx="2402586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3400" b="1" dirty="0">
                <a:solidFill>
                  <a:srgbClr val="F5294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00%</a:t>
            </a:r>
            <a:endParaRPr lang="en-US" sz="3400" dirty="0"/>
          </a:p>
          <a:p>
            <a:pPr indent="0" marL="0">
              <a:lnSpc>
                <a:spcPct val="98000"/>
              </a:lnSpc>
              <a:spcBef>
                <a:spcPts val="600"/>
              </a:spcBef>
              <a:buNone/>
            </a:pPr>
            <a:r>
              <a:rPr lang="en-US" sz="1250" b="1" dirty="0">
                <a:solidFill>
                  <a:srgbClr val="F9F3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18–34</a:t>
            </a:r>
            <a:endParaRPr lang="en-US" sz="3400" dirty="0"/>
          </a:p>
          <a:p>
            <a:pPr indent="0" marL="0">
              <a:lnSpc>
                <a:spcPct val="98000"/>
              </a:lnSpc>
              <a:spcBef>
                <a:spcPts val="300"/>
              </a:spcBef>
              <a:buNone/>
            </a:pPr>
            <a:r>
              <a:rPr lang="en-US" sz="950" dirty="0">
                <a:solidFill>
                  <a:srgbClr val="A57E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NFL's core AU growth demo</a:t>
            </a:r>
            <a:endParaRPr lang="en-US" sz="3400" dirty="0"/>
          </a:p>
        </p:txBody>
      </p:sp>
      <p:sp>
        <p:nvSpPr>
          <p:cNvPr id="13" name="Shape 11"/>
          <p:cNvSpPr/>
          <p:nvPr/>
        </p:nvSpPr>
        <p:spPr>
          <a:xfrm>
            <a:off x="9036558" y="2697480"/>
            <a:ext cx="2695194" cy="1417320"/>
          </a:xfrm>
          <a:prstGeom prst="roundRect">
            <a:avLst>
              <a:gd name="adj" fmla="val 5806"/>
            </a:avLst>
          </a:prstGeom>
          <a:solidFill>
            <a:srgbClr val="1E0C13"/>
          </a:solidFill>
          <a:ln w="12700">
            <a:solidFill>
              <a:srgbClr val="43202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82862" y="2825496"/>
            <a:ext cx="2402586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3400" b="1" dirty="0">
                <a:solidFill>
                  <a:srgbClr val="F5294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000k</a:t>
            </a:r>
            <a:endParaRPr lang="en-US" sz="3400" dirty="0"/>
          </a:p>
          <a:p>
            <a:pPr indent="0" marL="0">
              <a:lnSpc>
                <a:spcPct val="98000"/>
              </a:lnSpc>
              <a:spcBef>
                <a:spcPts val="600"/>
              </a:spcBef>
              <a:buNone/>
            </a:pPr>
            <a:r>
              <a:rPr lang="en-US" sz="1250" b="1" dirty="0">
                <a:solidFill>
                  <a:srgbClr val="F9F3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reach / mo</a:t>
            </a:r>
            <a:endParaRPr lang="en-US" sz="3400" dirty="0"/>
          </a:p>
          <a:p>
            <a:pPr indent="0" marL="0">
              <a:lnSpc>
                <a:spcPct val="98000"/>
              </a:lnSpc>
              <a:spcBef>
                <a:spcPts val="300"/>
              </a:spcBef>
              <a:buNone/>
            </a:pPr>
            <a:r>
              <a:rPr lang="en-US" sz="950" dirty="0">
                <a:solidFill>
                  <a:srgbClr val="A57E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Instagram + TikTok combined</a:t>
            </a:r>
            <a:endParaRPr lang="en-US" sz="3400" dirty="0"/>
          </a:p>
        </p:txBody>
      </p:sp>
      <p:sp>
        <p:nvSpPr>
          <p:cNvPr id="15" name="Shape 13"/>
          <p:cNvSpPr/>
          <p:nvPr/>
        </p:nvSpPr>
        <p:spPr>
          <a:xfrm>
            <a:off x="457200" y="4315968"/>
            <a:ext cx="6537960" cy="1938528"/>
          </a:xfrm>
          <a:prstGeom prst="roundRect">
            <a:avLst>
              <a:gd name="adj" fmla="val 4245"/>
            </a:avLst>
          </a:prstGeom>
          <a:solidFill>
            <a:srgbClr val="1E0C13"/>
          </a:solidFill>
          <a:ln w="12700">
            <a:solidFill>
              <a:srgbClr val="43202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" y="4480560"/>
            <a:ext cx="6135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CC3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THEY ARE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58368" y="4828032"/>
            <a:ext cx="613562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2000"/>
              </a:lnSpc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F9F3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Already NFL-curious but under-served — no trusted Australian voice, no clear place to watch.</a:t>
            </a:r>
            <a:endParaRPr lang="en-US" sz="1250" dirty="0"/>
          </a:p>
          <a:p>
            <a:pPr marL="342900" indent="-342900">
              <a:lnSpc>
                <a:spcPct val="102000"/>
              </a:lnSpc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F9F3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Streaming-native: they subscribe readily and follow talent across platforms.</a:t>
            </a:r>
            <a:endParaRPr lang="en-US" sz="1250" dirty="0"/>
          </a:p>
          <a:p>
            <a:pPr marL="342900" indent="-342900">
              <a:lnSpc>
                <a:spcPct val="102000"/>
              </a:lnSpc>
              <a:buSzPct val="100000"/>
              <a:buChar char="▸"/>
            </a:pPr>
            <a:r>
              <a:rPr lang="en-US" sz="1250" dirty="0">
                <a:solidFill>
                  <a:srgbClr val="F9F3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Concentrated in the metro markets and the exact demo Disney+ and the NFL both want.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269480" y="4315968"/>
            <a:ext cx="4462272" cy="1938528"/>
          </a:xfrm>
          <a:prstGeom prst="roundRect">
            <a:avLst>
              <a:gd name="adj" fmla="val 4245"/>
            </a:avLst>
          </a:prstGeom>
          <a:solidFill>
            <a:srgbClr val="2A111B"/>
          </a:solidFill>
          <a:ln w="12700">
            <a:solidFill>
              <a:srgbClr val="2E5B8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70648" y="4498848"/>
            <a:ext cx="4059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5AA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 TO DISNEY+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470648" y="4919472"/>
            <a:ext cx="4059936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F9F3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other slide is inventory. This is the </a:t>
            </a:r>
            <a:pPr indent="0" marL="0">
              <a:lnSpc>
                <a:spcPct val="108000"/>
              </a:lnSpc>
              <a:buNone/>
            </a:pPr>
            <a:r>
              <a:rPr lang="en-US" sz="1500" b="1" dirty="0">
                <a:solidFill>
                  <a:srgbClr val="F5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reason to buy it</a:t>
            </a:r>
            <a:pPr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F9F3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audited reach, engaged completion, and fit.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57E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— replace bracketed figures with Armchair's actuals (downloads, watch-time, audience survey, socials). Live platform: armchair-nfl.vercel.app. Concept for pitch purposes; not affiliated with the NFL, ESPN or Disney+.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04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74152" y="3840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9F3F5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Armchair</a:t>
            </a:r>
            <a:pPr algn="r" indent="0" marL="0">
              <a:buNone/>
            </a:pPr>
            <a:r>
              <a:rPr lang="en-US" sz="1400" b="1" dirty="0">
                <a:solidFill>
                  <a:srgbClr val="F5294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·</a:t>
            </a:r>
            <a:pPr algn="r" indent="0" marL="0">
              <a:buNone/>
            </a:pPr>
            <a:r>
              <a:rPr lang="en-US" sz="1400" b="1" dirty="0">
                <a:solidFill>
                  <a:srgbClr val="F9F3F5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Experts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074152" y="67665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100" kern="0" dirty="0">
                <a:solidFill>
                  <a:srgbClr val="A57E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STREAMING PARTNER · </a:t>
            </a:r>
            <a:pPr algn="r" indent="0" marL="0">
              <a:buNone/>
            </a:pPr>
            <a:r>
              <a:rPr lang="en-US" sz="950" b="1" spc="100" kern="0" dirty="0">
                <a:solidFill>
                  <a:srgbClr val="5AA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Disney+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PROOF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38912" y="749808"/>
            <a:ext cx="8412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4100" b="1" dirty="0">
                <a:solidFill>
                  <a:srgbClr val="F9F3F5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How we prove it drove subscriptions</a:t>
            </a:r>
            <a:endParaRPr lang="en-US" sz="4100" dirty="0"/>
          </a:p>
        </p:txBody>
      </p:sp>
      <p:sp>
        <p:nvSpPr>
          <p:cNvPr id="6" name="Text 4"/>
          <p:cNvSpPr/>
          <p:nvPr/>
        </p:nvSpPr>
        <p:spPr>
          <a:xfrm>
            <a:off x="457200" y="1938528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DCC3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Turning “awareness” into a number Disney+ can bank — one tracked path from a mention to a sign-up.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697480"/>
            <a:ext cx="2695194" cy="1847088"/>
          </a:xfrm>
          <a:prstGeom prst="roundRect">
            <a:avLst>
              <a:gd name="adj" fmla="val 4455"/>
            </a:avLst>
          </a:prstGeom>
          <a:solidFill>
            <a:srgbClr val="1E0C13"/>
          </a:solidFill>
          <a:ln w="12700">
            <a:solidFill>
              <a:srgbClr val="43202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03504" y="2825496"/>
            <a:ext cx="2402586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b="1" spc="200" kern="0" dirty="0">
                <a:solidFill>
                  <a:srgbClr val="F5294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01</a:t>
            </a:r>
            <a:endParaRPr lang="en-US" sz="1600" dirty="0"/>
          </a:p>
          <a:p>
            <a:pPr indent="0" marL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600" b="1" spc="50" kern="0" dirty="0">
                <a:solidFill>
                  <a:srgbClr val="F9F3F5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Awareness</a:t>
            </a:r>
            <a:endParaRPr lang="en-US" sz="1600" dirty="0"/>
          </a:p>
          <a:p>
            <a:pPr indent="0" marL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950" dirty="0">
                <a:solidFill>
                  <a:srgbClr val="DCC3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Show, social &amp; the iHeart network put the NFL story in front of fans.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03504" y="3977640"/>
            <a:ext cx="24025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A57E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MEASURED BY</a:t>
            </a:r>
            <a:endParaRPr lang="en-US" sz="800" dirty="0"/>
          </a:p>
          <a:p>
            <a:pPr indent="0" marL="0">
              <a:spcBef>
                <a:spcPts val="200"/>
              </a:spcBef>
              <a:buNone/>
            </a:pPr>
            <a:r>
              <a:rPr lang="en-US" sz="1150" b="1" dirty="0">
                <a:solidFill>
                  <a:srgbClr val="43C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Reach &amp; impressions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134106" y="3364992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57E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3316986" y="2697480"/>
            <a:ext cx="2695194" cy="1847088"/>
          </a:xfrm>
          <a:prstGeom prst="roundRect">
            <a:avLst>
              <a:gd name="adj" fmla="val 4455"/>
            </a:avLst>
          </a:prstGeom>
          <a:solidFill>
            <a:srgbClr val="1E0C13"/>
          </a:solidFill>
          <a:ln w="12700">
            <a:solidFill>
              <a:srgbClr val="43202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63290" y="2825496"/>
            <a:ext cx="2402586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b="1" spc="200" kern="0" dirty="0">
                <a:solidFill>
                  <a:srgbClr val="F5294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02</a:t>
            </a:r>
            <a:endParaRPr lang="en-US" sz="1600" dirty="0"/>
          </a:p>
          <a:p>
            <a:pPr indent="0" marL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600" b="1" spc="50" kern="0" dirty="0">
                <a:solidFill>
                  <a:srgbClr val="F9F3F5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Intent</a:t>
            </a:r>
            <a:endParaRPr lang="en-US" sz="1600" dirty="0"/>
          </a:p>
          <a:p>
            <a:pPr indent="0" marL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950" dirty="0">
                <a:solidFill>
                  <a:srgbClr val="DCC3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unique tracked deep-link &amp; on-air promo code in every episode.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463290" y="3977640"/>
            <a:ext cx="24025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A57E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MEASURED BY</a:t>
            </a:r>
            <a:endParaRPr lang="en-US" sz="800" dirty="0"/>
          </a:p>
          <a:p>
            <a:pPr indent="0" marL="0">
              <a:spcBef>
                <a:spcPts val="200"/>
              </a:spcBef>
              <a:buNone/>
            </a:pPr>
            <a:r>
              <a:rPr lang="en-US" sz="1150" b="1" dirty="0">
                <a:solidFill>
                  <a:srgbClr val="43C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Click-through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993892" y="3364992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57E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6176772" y="2697480"/>
            <a:ext cx="2695194" cy="1847088"/>
          </a:xfrm>
          <a:prstGeom prst="roundRect">
            <a:avLst>
              <a:gd name="adj" fmla="val 4455"/>
            </a:avLst>
          </a:prstGeom>
          <a:solidFill>
            <a:srgbClr val="1E0C13"/>
          </a:solidFill>
          <a:ln w="12700">
            <a:solidFill>
              <a:srgbClr val="43202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23076" y="2825496"/>
            <a:ext cx="2402586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b="1" spc="200" kern="0" dirty="0">
                <a:solidFill>
                  <a:srgbClr val="F5294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03</a:t>
            </a:r>
            <a:endParaRPr lang="en-US" sz="1600" dirty="0"/>
          </a:p>
          <a:p>
            <a:pPr indent="0" marL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600" b="1" spc="50" kern="0" dirty="0">
                <a:solidFill>
                  <a:srgbClr val="F9F3F5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Conversion</a:t>
            </a:r>
            <a:endParaRPr lang="en-US" sz="1600" dirty="0"/>
          </a:p>
          <a:p>
            <a:pPr indent="0" marL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950" dirty="0">
                <a:solidFill>
                  <a:srgbClr val="DCC3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co-branded, code-gated giveaway page captures the referral.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323076" y="3977640"/>
            <a:ext cx="24025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A57E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MEASURED BY</a:t>
            </a:r>
            <a:endParaRPr lang="en-US" sz="800" dirty="0"/>
          </a:p>
          <a:p>
            <a:pPr indent="0" marL="0">
              <a:spcBef>
                <a:spcPts val="200"/>
              </a:spcBef>
              <a:buNone/>
            </a:pPr>
            <a:r>
              <a:rPr lang="en-US" sz="1150" b="1" dirty="0">
                <a:solidFill>
                  <a:srgbClr val="43C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Attributed sign-ups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853678" y="3364992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57E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9036558" y="2697480"/>
            <a:ext cx="2695194" cy="1847088"/>
          </a:xfrm>
          <a:prstGeom prst="roundRect">
            <a:avLst>
              <a:gd name="adj" fmla="val 4455"/>
            </a:avLst>
          </a:prstGeom>
          <a:solidFill>
            <a:srgbClr val="1E0C13"/>
          </a:solidFill>
          <a:ln w="12700">
            <a:solidFill>
              <a:srgbClr val="43202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82862" y="2825496"/>
            <a:ext cx="2402586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b="1" spc="200" kern="0" dirty="0">
                <a:solidFill>
                  <a:srgbClr val="F5294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04</a:t>
            </a:r>
            <a:endParaRPr lang="en-US" sz="1600" dirty="0"/>
          </a:p>
          <a:p>
            <a:pPr indent="0" marL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600" b="1" spc="50" kern="0" dirty="0">
                <a:solidFill>
                  <a:srgbClr val="F9F3F5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Prove it</a:t>
            </a:r>
            <a:endParaRPr lang="en-US" sz="1600" dirty="0"/>
          </a:p>
          <a:p>
            <a:pPr indent="0" marL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950" dirty="0">
                <a:solidFill>
                  <a:srgbClr val="DCC3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shared dashboard reconciles spend against sign-ups fortnightly.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182862" y="3977640"/>
            <a:ext cx="24025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A57E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MEASURED BY</a:t>
            </a:r>
            <a:endParaRPr lang="en-US" sz="800" dirty="0"/>
          </a:p>
          <a:p>
            <a:pPr indent="0" marL="0">
              <a:spcBef>
                <a:spcPts val="200"/>
              </a:spcBef>
              <a:buNone/>
            </a:pPr>
            <a:r>
              <a:rPr lang="en-US" sz="1150" b="1" dirty="0">
                <a:solidFill>
                  <a:srgbClr val="43C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per acquisition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57200" y="4681728"/>
            <a:ext cx="6537960" cy="1572768"/>
          </a:xfrm>
          <a:prstGeom prst="roundRect">
            <a:avLst>
              <a:gd name="adj" fmla="val 5233"/>
            </a:avLst>
          </a:prstGeom>
          <a:solidFill>
            <a:srgbClr val="1E0C13"/>
          </a:solidFill>
          <a:ln w="12700">
            <a:solidFill>
              <a:srgbClr val="43202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8368" y="4828032"/>
            <a:ext cx="6135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CC3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IT'S WIRED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58368" y="5157216"/>
            <a:ext cx="613562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F9F3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unique UTM deep-link &amp; Disney+ promo code per episode — credit is unambiguous.</a:t>
            </a:r>
            <a:endParaRPr lang="en-US" sz="1200" dirty="0"/>
          </a:p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F9F3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giveaway landing page that gates entry behind the sign-up path.</a:t>
            </a:r>
            <a:endParaRPr lang="en-US" sz="1200" dirty="0"/>
          </a:p>
          <a:p>
            <a:pPr marL="342900" indent="-342900">
              <a:lnSpc>
                <a:spcPct val="102000"/>
              </a:lnSpc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F9F3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fortnightly report to Disney+ — reach, clicks, sign-ups, CPA. Nothing behind the curtain.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269480" y="4681728"/>
            <a:ext cx="4462272" cy="1572768"/>
          </a:xfrm>
          <a:prstGeom prst="roundRect">
            <a:avLst>
              <a:gd name="adj" fmla="val 5233"/>
            </a:avLst>
          </a:prstGeom>
          <a:solidFill>
            <a:srgbClr val="2A111B"/>
          </a:solidFill>
          <a:ln w="12700">
            <a:solidFill>
              <a:srgbClr val="2E5B8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70648" y="4846320"/>
            <a:ext cx="4059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5AA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UNLOCK — ALREADY LIVE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470648" y="5212080"/>
            <a:ext cx="40599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F9F3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</a:t>
            </a:r>
            <a:pPr indent="0" marL="0">
              <a:lnSpc>
                <a:spcPct val="106000"/>
              </a:lnSpc>
              <a:buNone/>
            </a:pPr>
            <a:r>
              <a:rPr lang="en-US" sz="1300" b="1" dirty="0">
                <a:solidFill>
                  <a:srgbClr val="F5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“Watch on Disney+”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F9F3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tap in the hub is one of these tracked links — and the hub is running today at </a:t>
            </a:r>
            <a:pPr indent="0" marL="0">
              <a:lnSpc>
                <a:spcPct val="106000"/>
              </a:lnSpc>
              <a:buNone/>
            </a:pPr>
            <a:r>
              <a:rPr lang="en-US" sz="1300" b="1" dirty="0">
                <a:solidFill>
                  <a:srgbClr val="5AA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armchair-nfl.vercel.app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F9F3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Product and measurement are the same system.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57E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platform: armchair-nfl.vercel.app — palette &amp; type match, so the pitch reads as one system. Concept for pitch purposes; not affiliated with the NFL, ESPN or Disney+.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04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74152" y="3840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9F3F5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Armchair</a:t>
            </a:r>
            <a:pPr algn="r" indent="0" marL="0">
              <a:buNone/>
            </a:pPr>
            <a:r>
              <a:rPr lang="en-US" sz="1400" b="1" dirty="0">
                <a:solidFill>
                  <a:srgbClr val="F5294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·</a:t>
            </a:r>
            <a:pPr algn="r" indent="0" marL="0">
              <a:buNone/>
            </a:pPr>
            <a:r>
              <a:rPr lang="en-US" sz="1400" b="1" dirty="0">
                <a:solidFill>
                  <a:srgbClr val="F9F3F5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Experts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074152" y="67665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100" kern="0" dirty="0">
                <a:solidFill>
                  <a:srgbClr val="A57E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STREAMING PARTNER · </a:t>
            </a:r>
            <a:pPr algn="r" indent="0" marL="0">
              <a:buNone/>
            </a:pPr>
            <a:r>
              <a:rPr lang="en-US" sz="950" b="1" spc="100" kern="0" dirty="0">
                <a:solidFill>
                  <a:srgbClr val="5AA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Disney+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PLATFORM — LIVE NOW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38912" y="749808"/>
            <a:ext cx="8412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4100" b="1" dirty="0">
                <a:solidFill>
                  <a:srgbClr val="F9F3F5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Not a concept. It's running.</a:t>
            </a:r>
            <a:endParaRPr lang="en-US" sz="4100" dirty="0"/>
          </a:p>
        </p:txBody>
      </p:sp>
      <p:sp>
        <p:nvSpPr>
          <p:cNvPr id="6" name="Text 4"/>
          <p:cNvSpPr/>
          <p:nvPr/>
        </p:nvSpPr>
        <p:spPr>
          <a:xfrm>
            <a:off x="457200" y="1938528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DCC3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utility layer from this deck is built and live on real NFL data — every game in Australian time, the MCG countdown, tracked Disney+ taps, and the partner dashboard that proves what they drove.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20624" y="2359152"/>
            <a:ext cx="5605272" cy="3539947"/>
          </a:xfrm>
          <a:prstGeom prst="roundRect">
            <a:avLst>
              <a:gd name="adj" fmla="val 1550"/>
            </a:avLst>
          </a:prstGeom>
          <a:solidFill>
            <a:srgbClr val="1E0C13"/>
          </a:solidFill>
          <a:ln w="15875">
            <a:solidFill>
              <a:srgbClr val="F5294B"/>
            </a:solidFill>
            <a:prstDash val="solid"/>
          </a:ln>
        </p:spPr>
      </p:sp>
      <p:pic>
        <p:nvPicPr>
          <p:cNvPr id="8" name="Image 0" descr="assets/hu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395728"/>
            <a:ext cx="5532120" cy="346679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5935675"/>
            <a:ext cx="5532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57E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What to Watch hub — Road to the G countdown, the Experts' calls, every kickoff in AEST/AWST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6163056" y="2359152"/>
            <a:ext cx="5605272" cy="3539947"/>
          </a:xfrm>
          <a:prstGeom prst="roundRect">
            <a:avLst>
              <a:gd name="adj" fmla="val 1550"/>
            </a:avLst>
          </a:prstGeom>
          <a:solidFill>
            <a:srgbClr val="1E0C13"/>
          </a:solidFill>
          <a:ln w="15875">
            <a:solidFill>
              <a:srgbClr val="F5294B"/>
            </a:solidFill>
            <a:prstDash val="solid"/>
          </a:ln>
        </p:spPr>
      </p:sp>
      <p:pic>
        <p:nvPicPr>
          <p:cNvPr id="11" name="Image 1" descr="assets/partn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9632" y="2395728"/>
            <a:ext cx="5532120" cy="346679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199632" y="5935675"/>
            <a:ext cx="5532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57E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partner dashboard — taps by storyline, the funnel, attribution wired end-to-end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457200" y="6484315"/>
            <a:ext cx="11274552" cy="713232"/>
          </a:xfrm>
          <a:prstGeom prst="roundRect">
            <a:avLst>
              <a:gd name="adj" fmla="val 11538"/>
            </a:avLst>
          </a:prstGeom>
          <a:solidFill>
            <a:srgbClr val="2A111B"/>
          </a:solidFill>
          <a:ln w="12700">
            <a:solidFill>
              <a:srgbClr val="2E5B8C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731520" y="6612331"/>
            <a:ext cx="10725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CC3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it now — </a:t>
            </a:r>
            <a:pPr algn="ctr" indent="0" marL="0">
              <a:buNone/>
            </a:pPr>
            <a:r>
              <a:rPr lang="en-US" sz="2200" b="1" spc="50" kern="0" dirty="0">
                <a:solidFill>
                  <a:srgbClr val="F5294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armchair-nfl.vercel.app</a:t>
            </a:r>
            <a:pPr algn="ctr" indent="0" marL="0">
              <a:buNone/>
            </a:pPr>
            <a:r>
              <a:rPr lang="en-US" sz="1100" dirty="0">
                <a:solidFill>
                  <a:srgbClr val="A57E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live schedule, 32 team pages, player stats, the lot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57E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Screenshots are the live product on real ESPN data, 2026-08-03. Built on the ListTrac engine. Concept for pitch purposes; not affiliated with the NFL, ESPN or Disney+.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2026-08-03T22:56:27Z</dcterms:created>
  <dcterms:modified xsi:type="dcterms:W3CDTF">2026-08-03T22:56:27Z</dcterms:modified>
</cp:coreProperties>
</file>