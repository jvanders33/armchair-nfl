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4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280160"/>
            <a:ext cx="7863840" cy="7863840"/>
          </a:xfrm>
          <a:prstGeom prst="ellipse">
            <a:avLst/>
          </a:prstGeom>
          <a:solidFill>
            <a:srgbClr val="8C0F27">
              <a:alpha val="38000"/>
            </a:srgbClr>
          </a:solidFill>
          <a:ln w="12700">
            <a:solidFill>
              <a:srgbClr val="8C0F27">
                <a:alpha val="0"/>
              </a:srgbClr>
            </a:solidFill>
            <a:prstDash val="solid"/>
          </a:ln>
        </p:spPr>
      </p:sp>
      <p:pic>
        <p:nvPicPr>
          <p:cNvPr id="3" name="Image 0" descr="assets/img/gurl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143000"/>
            <a:ext cx="4663440" cy="45171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3716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5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PROPOSAL FOR TODD GURLEY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66344" y="1755648"/>
            <a:ext cx="6035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5000"/>
              </a:lnSpc>
              <a:buNone/>
            </a:pPr>
            <a:r>
              <a:rPr lang="en-US" sz="8800" b="1" dirty="0">
                <a:solidFill>
                  <a:srgbClr val="F9F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RUNNING</a:t>
            </a:r>
            <a:endParaRPr lang="en-US" sz="88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8800" b="1" dirty="0">
                <a:solidFill>
                  <a:srgbClr val="F9F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IT BACK</a:t>
            </a:r>
            <a:endParaRPr lang="en-US" sz="8800" dirty="0"/>
          </a:p>
        </p:txBody>
      </p:sp>
      <p:sp>
        <p:nvSpPr>
          <p:cNvPr id="6" name="Shape 3"/>
          <p:cNvSpPr/>
          <p:nvPr/>
        </p:nvSpPr>
        <p:spPr>
          <a:xfrm>
            <a:off x="502920" y="4041648"/>
            <a:ext cx="1828800" cy="50292"/>
          </a:xfrm>
          <a:prstGeom prst="rect">
            <a:avLst/>
          </a:prstGeom>
          <a:solidFill>
            <a:srgbClr val="F529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261104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FFB02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Two NFL seasons. One Olympic Games.</a:t>
            </a:r>
            <a:endParaRPr lang="en-US" sz="2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FFB02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Both of them in your city.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02920" y="513892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529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Todd Gurley</a:t>
            </a:r>
            <a:pPr indent="0" marL="0">
              <a:buNone/>
            </a:pPr>
            <a:r>
              <a:rPr lang="en-US" sz="2300" dirty="0">
                <a:solidFill>
                  <a:srgbClr val="DCC3C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  ·   Cam Luke   ·   Armchair Experts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555955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C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iHeart America × iHeart Australia co-production — with founding equity for Todd.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6419088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proposal · prepared for Todd Gurley · August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4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694944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9F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most under-served football</a:t>
            </a:r>
            <a:endParaRPr lang="en-US" sz="4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9F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market in the world.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192024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CC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11 September the NFL plays its first ever game in Australia — 100,000 people at the Melbourne Cricket Ground, five weeks from now. A national audience is about to arrive overnight, and there is no established local show waiting to receive it. In America that window closed a decade ago. Here it is wide open, and it needs one credible voice.</a:t>
            </a:r>
            <a:endParaRPr lang="en-US" sz="1400" dirty="0"/>
          </a:p>
        </p:txBody>
      </p:sp>
      <p:pic>
        <p:nvPicPr>
          <p:cNvPr id="5" name="Image 0" descr="assets/img/nfl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10378440" y="658368"/>
            <a:ext cx="1234440" cy="1234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2743200"/>
            <a:ext cx="2658618" cy="1371600"/>
          </a:xfrm>
          <a:prstGeom prst="roundRect">
            <a:avLst>
              <a:gd name="adj" fmla="val 6000"/>
            </a:avLst>
          </a:prstGeom>
          <a:solidFill>
            <a:srgbClr val="1E0C13"/>
          </a:solidFill>
          <a:ln w="12700">
            <a:solidFill>
              <a:srgbClr val="43202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224" y="2871216"/>
            <a:ext cx="236601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F529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100k</a:t>
            </a:r>
            <a:endParaRPr lang="en-US" sz="3200" dirty="0"/>
          </a:p>
          <a:p>
            <a:pPr indent="0" marL="0">
              <a:lnSpc>
                <a:spcPct val="98000"/>
              </a:lnSpc>
              <a:spcBef>
                <a:spcPts val="500"/>
              </a:spcBef>
              <a:buNone/>
            </a:pPr>
            <a:r>
              <a:rPr lang="en-US" sz="1200" b="1" dirty="0">
                <a:solidFill>
                  <a:srgbClr val="F9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MCG</a:t>
            </a:r>
            <a:endParaRPr lang="en-US" sz="3200" dirty="0"/>
          </a:p>
          <a:p>
            <a:pPr indent="0" marL="0">
              <a:lnSpc>
                <a:spcPct val="98000"/>
              </a:lnSpc>
              <a:spcBef>
                <a:spcPts val="300"/>
              </a:spcBef>
              <a:buNone/>
            </a:pPr>
            <a:r>
              <a:rPr lang="en-US" sz="950" dirty="0">
                <a:solidFill>
                  <a:srgbClr val="A5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Sep — the NFL's first game on Australian soil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3344418" y="2743200"/>
            <a:ext cx="2658618" cy="1371600"/>
          </a:xfrm>
          <a:prstGeom prst="roundRect">
            <a:avLst>
              <a:gd name="adj" fmla="val 6000"/>
            </a:avLst>
          </a:prstGeom>
          <a:solidFill>
            <a:srgbClr val="1E0C13"/>
          </a:solidFill>
          <a:ln w="12700">
            <a:solidFill>
              <a:srgbClr val="43202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90722" y="2871216"/>
            <a:ext cx="236601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F529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#1</a:t>
            </a:r>
            <a:endParaRPr lang="en-US" sz="3200" dirty="0"/>
          </a:p>
          <a:p>
            <a:pPr indent="0" marL="0">
              <a:lnSpc>
                <a:spcPct val="98000"/>
              </a:lnSpc>
              <a:spcBef>
                <a:spcPts val="500"/>
              </a:spcBef>
              <a:buNone/>
            </a:pPr>
            <a:r>
              <a:rPr lang="en-US" sz="1200" b="1" dirty="0">
                <a:solidFill>
                  <a:srgbClr val="F9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market</a:t>
            </a:r>
            <a:endParaRPr lang="en-US" sz="3200" dirty="0"/>
          </a:p>
          <a:p>
            <a:pPr indent="0" marL="0">
              <a:lnSpc>
                <a:spcPct val="98000"/>
              </a:lnSpc>
              <a:spcBef>
                <a:spcPts val="300"/>
              </a:spcBef>
              <a:buNone/>
            </a:pPr>
            <a:r>
              <a:rPr lang="en-US" sz="950" dirty="0">
                <a:solidFill>
                  <a:srgbClr val="A5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priority international market for the league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6185916" y="2743200"/>
            <a:ext cx="2658618" cy="1371600"/>
          </a:xfrm>
          <a:prstGeom prst="roundRect">
            <a:avLst>
              <a:gd name="adj" fmla="val 6000"/>
            </a:avLst>
          </a:prstGeom>
          <a:solidFill>
            <a:srgbClr val="1E0C13"/>
          </a:solidFill>
          <a:ln w="12700">
            <a:solidFill>
              <a:srgbClr val="43202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32220" y="2871216"/>
            <a:ext cx="236601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F529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</a:t>
            </a:r>
            <a:endParaRPr lang="en-US" sz="3200" dirty="0"/>
          </a:p>
          <a:p>
            <a:pPr indent="0" marL="0">
              <a:lnSpc>
                <a:spcPct val="98000"/>
              </a:lnSpc>
              <a:spcBef>
                <a:spcPts val="500"/>
              </a:spcBef>
              <a:buNone/>
            </a:pPr>
            <a:r>
              <a:rPr lang="en-US" sz="1200" b="1" dirty="0">
                <a:solidFill>
                  <a:srgbClr val="F9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Incumbent voice</a:t>
            </a:r>
            <a:endParaRPr lang="en-US" sz="3200" dirty="0"/>
          </a:p>
          <a:p>
            <a:pPr indent="0" marL="0">
              <a:lnSpc>
                <a:spcPct val="98000"/>
              </a:lnSpc>
              <a:spcBef>
                <a:spcPts val="300"/>
              </a:spcBef>
              <a:buNone/>
            </a:pPr>
            <a:r>
              <a:rPr lang="en-US" sz="950" dirty="0">
                <a:solidFill>
                  <a:srgbClr val="A5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established Australian NFL show owns this space</a:t>
            </a:r>
            <a:endParaRPr lang="en-US" sz="3200" dirty="0"/>
          </a:p>
        </p:txBody>
      </p:sp>
      <p:sp>
        <p:nvSpPr>
          <p:cNvPr id="12" name="Shape 9"/>
          <p:cNvSpPr/>
          <p:nvPr/>
        </p:nvSpPr>
        <p:spPr>
          <a:xfrm>
            <a:off x="9027414" y="2743200"/>
            <a:ext cx="2658618" cy="1371600"/>
          </a:xfrm>
          <a:prstGeom prst="roundRect">
            <a:avLst>
              <a:gd name="adj" fmla="val 6000"/>
            </a:avLst>
          </a:prstGeom>
          <a:solidFill>
            <a:srgbClr val="1E0C13"/>
          </a:solidFill>
          <a:ln w="12700">
            <a:solidFill>
              <a:srgbClr val="43202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73718" y="2871216"/>
            <a:ext cx="236601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FFB02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 yrs</a:t>
            </a:r>
            <a:endParaRPr lang="en-US" sz="3200" dirty="0"/>
          </a:p>
          <a:p>
            <a:pPr indent="0" marL="0">
              <a:lnSpc>
                <a:spcPct val="98000"/>
              </a:lnSpc>
              <a:spcBef>
                <a:spcPts val="500"/>
              </a:spcBef>
              <a:buNone/>
            </a:pPr>
            <a:r>
              <a:rPr lang="en-US" sz="1200" b="1" dirty="0">
                <a:solidFill>
                  <a:srgbClr val="F9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run</a:t>
            </a:r>
            <a:endParaRPr lang="en-US" sz="3200" dirty="0"/>
          </a:p>
          <a:p>
            <a:pPr indent="0" marL="0">
              <a:lnSpc>
                <a:spcPct val="98000"/>
              </a:lnSpc>
              <a:spcBef>
                <a:spcPts val="300"/>
              </a:spcBef>
              <a:buNone/>
            </a:pPr>
            <a:r>
              <a:rPr lang="en-US" sz="950" dirty="0">
                <a:solidFill>
                  <a:srgbClr val="A5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NFL seasons and an Olympic Games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502920" y="4434840"/>
            <a:ext cx="11183112" cy="1691640"/>
          </a:xfrm>
          <a:prstGeom prst="roundRect">
            <a:avLst>
              <a:gd name="adj" fmla="val 4865"/>
            </a:avLst>
          </a:prstGeom>
          <a:solidFill>
            <a:srgbClr val="2A111B"/>
          </a:solidFill>
          <a:ln w="12700">
            <a:solidFill>
              <a:srgbClr val="3A5F8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8952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A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SCHEDULING GIFT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58952" y="4983480"/>
            <a:ext cx="10671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F9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Sunday football in America is </a:t>
            </a:r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F5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 daytime in Australia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F9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biggest day in the sport lands in the middle of the Australian working week, every week, for five months a year — and nobody is programming for it. That is not a quirk of the clock. That is an unclaimed audience with a standing appointment.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02920" y="6419088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it Back · an iHeart America × iHeart Australia co-production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4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694944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9F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Running it Back.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CC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through the NFL season. You bring the player's eye — what actually happens out there, what a locker room sounds like in December, who's about to get found out. Cam brings the audience that doesn't know any of it yet and desperately wants to.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0" y="1005840"/>
            <a:ext cx="5120640" cy="5120640"/>
          </a:xfrm>
          <a:prstGeom prst="ellipse">
            <a:avLst/>
          </a:prstGeom>
          <a:solidFill>
            <a:srgbClr val="8C0F27">
              <a:alpha val="30000"/>
            </a:srgbClr>
          </a:solidFill>
          <a:ln w="12700">
            <a:solidFill>
              <a:srgbClr val="8C0F27">
                <a:alpha val="0"/>
              </a:srgbClr>
            </a:solidFill>
            <a:prstDash val="solid"/>
          </a:ln>
        </p:spPr>
      </p:sp>
      <p:pic>
        <p:nvPicPr>
          <p:cNvPr id="6" name="Image 0" descr="assets/img/gurl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965960"/>
            <a:ext cx="3246120" cy="3145536"/>
          </a:xfrm>
          <a:prstGeom prst="rect">
            <a:avLst/>
          </a:prstGeom>
        </p:spPr>
      </p:pic>
      <p:pic>
        <p:nvPicPr>
          <p:cNvPr id="7" name="Image 1" descr="assets/img/rams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7635240" y="4709160"/>
            <a:ext cx="777240" cy="7772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02920" y="2880360"/>
            <a:ext cx="6766560" cy="1024128"/>
          </a:xfrm>
          <a:prstGeom prst="roundRect">
            <a:avLst>
              <a:gd name="adj" fmla="val 8036"/>
            </a:avLst>
          </a:prstGeom>
          <a:solidFill>
            <a:srgbClr val="1E0C13"/>
          </a:solidFill>
          <a:ln w="12700">
            <a:solidFill>
              <a:srgbClr val="43202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04088" y="30266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2103120" y="3008376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CC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Weekly, in season. Todd in Los Angeles, Cam in Melbourne — recorded remotely, roughly two hours a week.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02920" y="4050792"/>
            <a:ext cx="6766560" cy="1024128"/>
          </a:xfrm>
          <a:prstGeom prst="roundRect">
            <a:avLst>
              <a:gd name="adj" fmla="val 8036"/>
            </a:avLst>
          </a:prstGeom>
          <a:solidFill>
            <a:srgbClr val="1E0C13"/>
          </a:solidFill>
          <a:ln w="12700">
            <a:solidFill>
              <a:srgbClr val="43202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04088" y="41970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HOOK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103120" y="417880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CC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player's read on the tape, translated for an audience that has just arrived. One without the other is every other podcast.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02920" y="5221224"/>
            <a:ext cx="6766560" cy="1024128"/>
          </a:xfrm>
          <a:prstGeom prst="roundRect">
            <a:avLst>
              <a:gd name="adj" fmla="val 8036"/>
            </a:avLst>
          </a:prstGeom>
          <a:solidFill>
            <a:srgbClr val="1E0C13"/>
          </a:solidFill>
          <a:ln w="12700">
            <a:solidFill>
              <a:srgbClr val="43202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04088" y="5367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NAME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103120" y="53492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CC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run game, the rewatch, and the return. It works for the football, the format, and what comes after.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02920" y="6419088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it Back · an iHeart America × iHeart Australia co-production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4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SHAPE OF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694944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9F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Three seasons. One finish line.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CC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podcast that runs until it stops — a series with a destination, and the destination is your city.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560320"/>
            <a:ext cx="3605784" cy="3108960"/>
          </a:xfrm>
          <a:prstGeom prst="roundRect">
            <a:avLst>
              <a:gd name="adj" fmla="val 2647"/>
            </a:avLst>
          </a:prstGeom>
          <a:solidFill>
            <a:srgbClr val="1E0C13"/>
          </a:solidFill>
          <a:ln w="12700">
            <a:solidFill>
              <a:srgbClr val="4320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560320"/>
            <a:ext cx="3605784" cy="68580"/>
          </a:xfrm>
          <a:prstGeom prst="rect">
            <a:avLst/>
          </a:prstGeom>
          <a:solidFill>
            <a:srgbClr val="F529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761488"/>
            <a:ext cx="3240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A5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3035808"/>
            <a:ext cx="2691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29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NFL 2026/27</a:t>
            </a:r>
            <a:endParaRPr lang="en-US" sz="3000" dirty="0"/>
          </a:p>
        </p:txBody>
      </p:sp>
      <p:pic>
        <p:nvPicPr>
          <p:cNvPr id="9" name="Image 0" descr="assets/img/nfl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3240024" y="301752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3611880"/>
            <a:ext cx="3240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C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through the season. Todd in LA, Cam in Melbourne.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5800" y="4617720"/>
            <a:ext cx="3240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F9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Four shows on the ground at Super Bowl LXI — SoFi Stadium, Los Angeles, February 2027. Both hosts there.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291584" y="2560320"/>
            <a:ext cx="3605784" cy="3108960"/>
          </a:xfrm>
          <a:prstGeom prst="roundRect">
            <a:avLst>
              <a:gd name="adj" fmla="val 2647"/>
            </a:avLst>
          </a:prstGeom>
          <a:solidFill>
            <a:srgbClr val="1E0C13"/>
          </a:solidFill>
          <a:ln w="12700">
            <a:solidFill>
              <a:srgbClr val="43202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91584" y="2560320"/>
            <a:ext cx="3605784" cy="68580"/>
          </a:xfrm>
          <a:prstGeom prst="rect">
            <a:avLst/>
          </a:prstGeom>
          <a:solidFill>
            <a:srgbClr val="FFB0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74464" y="2761488"/>
            <a:ext cx="3240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A5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 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474464" y="3035808"/>
            <a:ext cx="2691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B02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NFL 2027/28</a:t>
            </a:r>
            <a:endParaRPr lang="en-US" sz="3000" dirty="0"/>
          </a:p>
        </p:txBody>
      </p:sp>
      <p:pic>
        <p:nvPicPr>
          <p:cNvPr id="16" name="Image 1" descr="assets/img/nfl.png">    </p:cNvPr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7028688" y="3017520"/>
            <a:ext cx="640080" cy="6400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474464" y="3611880"/>
            <a:ext cx="3240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C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again, into an audience with a full year of habit behind it.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474464" y="4617720"/>
            <a:ext cx="3240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F9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A second Super Bowl run to close the season out.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080248" y="2560320"/>
            <a:ext cx="3605784" cy="3108960"/>
          </a:xfrm>
          <a:prstGeom prst="roundRect">
            <a:avLst>
              <a:gd name="adj" fmla="val 2647"/>
            </a:avLst>
          </a:prstGeom>
          <a:solidFill>
            <a:srgbClr val="1E0C13"/>
          </a:solidFill>
          <a:ln w="12700">
            <a:solidFill>
              <a:srgbClr val="43202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080248" y="2560320"/>
            <a:ext cx="3605784" cy="68580"/>
          </a:xfrm>
          <a:prstGeom prst="rect">
            <a:avLst/>
          </a:prstGeom>
          <a:solidFill>
            <a:srgbClr val="5AA7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263128" y="2761488"/>
            <a:ext cx="3240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A5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 3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8263128" y="3035808"/>
            <a:ext cx="2691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AA7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LA 2028</a:t>
            </a:r>
            <a:endParaRPr lang="en-US" sz="3000" dirty="0"/>
          </a:p>
        </p:txBody>
      </p:sp>
      <p:sp>
        <p:nvSpPr>
          <p:cNvPr id="23" name="Text 19"/>
          <p:cNvSpPr/>
          <p:nvPr/>
        </p:nvSpPr>
        <p:spPr>
          <a:xfrm>
            <a:off x="10543032" y="307238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5AA7FF">
                    <a:alpha val="55000"/>
                  </a:srgb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LA28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8263128" y="3611880"/>
            <a:ext cx="3240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C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Olympics come to Los Angeles. The show goes daily for the Games — both hosts on the ground.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8263128" y="4617720"/>
            <a:ext cx="3240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F9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A minimum of one guest every episode. Athletes, medallists, the rooms only Todd can open.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502920" y="587044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02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Football takes it to Los Angeles. The Olympics keep it there.</a:t>
            </a:r>
            <a:endParaRPr lang="en-US" sz="2200" dirty="0"/>
          </a:p>
        </p:txBody>
      </p:sp>
      <p:sp>
        <p:nvSpPr>
          <p:cNvPr id="27" name="Text 23"/>
          <p:cNvSpPr/>
          <p:nvPr/>
        </p:nvSpPr>
        <p:spPr>
          <a:xfrm>
            <a:off x="502920" y="6419088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Bowl LXI: SoFi Stadium, Los Angeles, 14 February 2027 · LA28 Olympic Games: July–August 2028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4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PARTNERSHIP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694944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9F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One who played it.</a:t>
            </a:r>
            <a:endParaRPr lang="en-US" sz="4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9F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One who explains it.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2103120"/>
            <a:ext cx="5481828" cy="3246120"/>
          </a:xfrm>
          <a:prstGeom prst="roundRect">
            <a:avLst>
              <a:gd name="adj" fmla="val 2535"/>
            </a:avLst>
          </a:prstGeom>
          <a:solidFill>
            <a:srgbClr val="1E0C13"/>
          </a:solidFill>
          <a:ln w="12700">
            <a:solidFill>
              <a:srgbClr val="4320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2304288"/>
            <a:ext cx="1737360" cy="1737360"/>
          </a:xfrm>
          <a:prstGeom prst="ellipse">
            <a:avLst/>
          </a:prstGeom>
          <a:solidFill>
            <a:srgbClr val="8C0F27">
              <a:alpha val="30000"/>
            </a:srgbClr>
          </a:solidFill>
          <a:ln w="12700">
            <a:solidFill>
              <a:srgbClr val="8C0F27">
                <a:alpha val="0"/>
              </a:srgbClr>
            </a:solidFill>
            <a:prstDash val="solid"/>
          </a:ln>
        </p:spPr>
      </p:sp>
      <p:pic>
        <p:nvPicPr>
          <p:cNvPr id="6" name="Image 0" descr="assets/img/gurley-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377440"/>
            <a:ext cx="1600200" cy="1600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88920" y="2670048"/>
            <a:ext cx="2967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529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TODD GURLEY</a:t>
            </a:r>
            <a:endParaRPr lang="en-US" sz="2900" dirty="0"/>
          </a:p>
        </p:txBody>
      </p:sp>
      <p:sp>
        <p:nvSpPr>
          <p:cNvPr id="8" name="Text 5"/>
          <p:cNvSpPr/>
          <p:nvPr/>
        </p:nvSpPr>
        <p:spPr>
          <a:xfrm>
            <a:off x="2788920" y="3163824"/>
            <a:ext cx="2967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5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Angeles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95528" y="4206240"/>
            <a:ext cx="48966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CC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Three-time All-Pro. Offensive Player of the Year. First-round pick, 2015. A name that opens any door in the league — and a read on the game no Australian broadcaster can manufacture.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04204" y="2103120"/>
            <a:ext cx="5481828" cy="3246120"/>
          </a:xfrm>
          <a:prstGeom prst="roundRect">
            <a:avLst>
              <a:gd name="adj" fmla="val 2535"/>
            </a:avLst>
          </a:prstGeom>
          <a:solidFill>
            <a:srgbClr val="1E0C13"/>
          </a:solidFill>
          <a:ln w="12700">
            <a:solidFill>
              <a:srgbClr val="43202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8252" y="2304288"/>
            <a:ext cx="1737360" cy="1737360"/>
          </a:xfrm>
          <a:prstGeom prst="ellipse">
            <a:avLst/>
          </a:prstGeom>
          <a:solidFill>
            <a:srgbClr val="8C0F27">
              <a:alpha val="30000"/>
            </a:srgbClr>
          </a:solidFill>
          <a:ln w="12700">
            <a:solidFill>
              <a:srgbClr val="8C0F27">
                <a:alpha val="0"/>
              </a:srgbClr>
            </a:solidFill>
            <a:prstDash val="solid"/>
          </a:ln>
        </p:spPr>
      </p:sp>
      <p:pic>
        <p:nvPicPr>
          <p:cNvPr id="12" name="Image 1" descr="assets/img/cam-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404" y="2377440"/>
            <a:ext cx="1600200" cy="1600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490204" y="2670048"/>
            <a:ext cx="2967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B02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CAM LUKE</a:t>
            </a:r>
            <a:endParaRPr lang="en-US" sz="2900" dirty="0"/>
          </a:p>
        </p:txBody>
      </p:sp>
      <p:sp>
        <p:nvSpPr>
          <p:cNvPr id="14" name="Text 10"/>
          <p:cNvSpPr/>
          <p:nvPr/>
        </p:nvSpPr>
        <p:spPr>
          <a:xfrm>
            <a:off x="8490204" y="3163824"/>
            <a:ext cx="2967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5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Melbourne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496812" y="4206240"/>
            <a:ext cx="48966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CC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years hosting national sports television, plus daily national radio. Knows how to bring a brand-new audience into a sport without patronising the people who already love it.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02920" y="5559552"/>
            <a:ext cx="11183112" cy="713232"/>
          </a:xfrm>
          <a:prstGeom prst="roundRect">
            <a:avLst>
              <a:gd name="adj" fmla="val 11538"/>
            </a:avLst>
          </a:prstGeom>
          <a:solidFill>
            <a:srgbClr val="2A111B"/>
          </a:solidFill>
          <a:ln w="12700">
            <a:solidFill>
              <a:srgbClr val="8C2F4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77240" y="5632704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audience that's just arrived needs both: </a:t>
            </a:r>
            <a:pPr indent="0" marL="0">
              <a:buNone/>
            </a:pPr>
            <a:r>
              <a:rPr lang="en-US" sz="1400" b="1" dirty="0">
                <a:solidFill>
                  <a:srgbClr val="F5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someone who has been in the huddle, and someone who can tell them why it matters.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02920" y="6419088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it Back · an iHeart America × iHeart Australia co-production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4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PROPOSAL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694944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9F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You don't host it. You own it.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1810512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CC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structure is deliberate: a guaranteed fee so your time is paid for whatever happens, and equity so that if this becomes something, you own a piece of the something. A floor, and no ceiling.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697480"/>
            <a:ext cx="2658618" cy="2148840"/>
          </a:xfrm>
          <a:prstGeom prst="roundRect">
            <a:avLst>
              <a:gd name="adj" fmla="val 3830"/>
            </a:avLst>
          </a:prstGeom>
          <a:solidFill>
            <a:srgbClr val="2A111B"/>
          </a:solidFill>
          <a:ln w="12700">
            <a:solidFill>
              <a:srgbClr val="8C2F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2871216"/>
            <a:ext cx="23660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9224" y="3145536"/>
            <a:ext cx="236601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29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[$X]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9224" y="3767328"/>
            <a:ext cx="23660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C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episode, guaranteed. You're paid for every show you turn up to, regardless of how the business is travelling.  [CONFIRM WITH IHEART]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44418" y="2697480"/>
            <a:ext cx="2658618" cy="2148840"/>
          </a:xfrm>
          <a:prstGeom prst="roundRect">
            <a:avLst>
              <a:gd name="adj" fmla="val 3830"/>
            </a:avLst>
          </a:prstGeom>
          <a:solidFill>
            <a:srgbClr val="2A111B"/>
          </a:solidFill>
          <a:ln w="12700">
            <a:solidFill>
              <a:srgbClr val="8C2F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90722" y="2871216"/>
            <a:ext cx="23660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EQUITY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90722" y="3145536"/>
            <a:ext cx="236601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29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[X]%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490722" y="3767328"/>
            <a:ext cx="23660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C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Founding stake in the show itself — advertising, sponsorship, the back catalogue, whatever it grows into.  [CONFIRM WITH IHEART]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85916" y="2697480"/>
            <a:ext cx="2658618" cy="2148840"/>
          </a:xfrm>
          <a:prstGeom prst="roundRect">
            <a:avLst>
              <a:gd name="adj" fmla="val 3830"/>
            </a:avLst>
          </a:prstGeom>
          <a:solidFill>
            <a:srgbClr val="1E0C13"/>
          </a:solidFill>
          <a:ln w="12700">
            <a:solidFill>
              <a:srgbClr val="4320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2220" y="2871216"/>
            <a:ext cx="23660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BACKING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32220" y="3145536"/>
            <a:ext cx="236601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F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iHeart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332220" y="3767328"/>
            <a:ext cx="23660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C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iHeart America × iHeart Australia carry production, distribution and commercial across both markets.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27414" y="2697480"/>
            <a:ext cx="2658618" cy="2148840"/>
          </a:xfrm>
          <a:prstGeom prst="roundRect">
            <a:avLst>
              <a:gd name="adj" fmla="val 3830"/>
            </a:avLst>
          </a:prstGeom>
          <a:solidFill>
            <a:srgbClr val="1E0C13"/>
          </a:solidFill>
          <a:ln w="12700">
            <a:solidFill>
              <a:srgbClr val="4320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73718" y="2871216"/>
            <a:ext cx="23660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TIME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73718" y="3145536"/>
            <a:ext cx="236601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F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~2 hrs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9173718" y="3767328"/>
            <a:ext cx="23660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C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week, in season, remote from LA — plus Super Bowl week and the Games, where you're there anyway.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5029200"/>
            <a:ext cx="11183112" cy="1170432"/>
          </a:xfrm>
          <a:prstGeom prst="roundRect">
            <a:avLst>
              <a:gd name="adj" fmla="val 7031"/>
            </a:avLst>
          </a:prstGeom>
          <a:solidFill>
            <a:srgbClr val="2A111B"/>
          </a:solidFill>
          <a:ln w="12700">
            <a:solidFill>
              <a:srgbClr val="3A5F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" y="5193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A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IT'S BUILT THIS WAY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58952" y="5504688"/>
            <a:ext cx="10671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F5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want you to make as much out of this as it can possibly make.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9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isn't generosity, it's alignment — a show grows fastest when the person whose name is on it has every reason to grow it. McAfee, the Kelces: every one of those started as a small show with a big name attached, and the people who took ownership early are the ones who did well out of it.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6419088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 in [brackets] to be confirmed with iHeart before issue · indicative structure only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4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3C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BUILT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694944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9F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It launches onto a platform</a:t>
            </a:r>
            <a:endParaRPr lang="en-US" sz="3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9F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that already works.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CC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deck — a live product. Every NFL game in Australian time, all 32 teams, every player, news aggregated from a dozen mastheads, and the measurement layer that shows partners exactly what the audience did.</a:t>
            </a:r>
            <a:endParaRPr lang="en-US" sz="1400" dirty="0"/>
          </a:p>
        </p:txBody>
      </p:sp>
      <p:pic>
        <p:nvPicPr>
          <p:cNvPr id="5" name="Image 0" descr="assets/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651760"/>
            <a:ext cx="5532120" cy="3465576"/>
          </a:xfrm>
          <a:prstGeom prst="rect">
            <a:avLst/>
          </a:prstGeom>
        </p:spPr>
      </p:pic>
      <p:pic>
        <p:nvPicPr>
          <p:cNvPr id="6" name="Image 1" descr="assets/hu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651760"/>
            <a:ext cx="5532120" cy="34655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6419088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armchair-nfl.vercel.app — live now · AFL, NFL and NBL on one platform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4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548640"/>
            <a:ext cx="6583680" cy="6583680"/>
          </a:xfrm>
          <a:prstGeom prst="ellipse">
            <a:avLst/>
          </a:prstGeom>
          <a:solidFill>
            <a:srgbClr val="8C0F27">
              <a:alpha val="32000"/>
            </a:srgbClr>
          </a:solidFill>
          <a:ln w="12700">
            <a:solidFill>
              <a:srgbClr val="8C0F27">
                <a:alpha val="0"/>
              </a:srgbClr>
            </a:solidFill>
            <a:prstDash val="solid"/>
          </a:ln>
        </p:spPr>
      </p:sp>
      <p:pic>
        <p:nvPicPr>
          <p:cNvPr id="3" name="Image 0" descr="assets/img/gurl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2057400"/>
            <a:ext cx="3657600" cy="35387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84632" y="694944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600" b="1" dirty="0">
                <a:solidFill>
                  <a:srgbClr val="F9F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Tell us the shape</a:t>
            </a:r>
            <a:endParaRPr lang="en-US" sz="4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600" b="1" dirty="0">
                <a:solidFill>
                  <a:srgbClr val="F9F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is right.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502920" y="201168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DCC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is, iHeart puts real numbers against the fee and the equity this week, and we paper it properly. Nothing else needs deciding today.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02920" y="2971800"/>
            <a:ext cx="7132320" cy="841248"/>
          </a:xfrm>
          <a:prstGeom prst="roundRect">
            <a:avLst>
              <a:gd name="adj" fmla="val 9783"/>
            </a:avLst>
          </a:prstGeom>
          <a:solidFill>
            <a:srgbClr val="1E0C13"/>
          </a:solidFill>
          <a:ln w="12700">
            <a:solidFill>
              <a:srgbClr val="43202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4088" y="3191256"/>
            <a:ext cx="402336" cy="402336"/>
          </a:xfrm>
          <a:prstGeom prst="ellipse">
            <a:avLst/>
          </a:prstGeom>
          <a:solidFill>
            <a:srgbClr val="F529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04088" y="3227832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52728" y="309981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F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Agree the shape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252728" y="3410712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C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seasons, weekly NFL, daily for the Games. Fee plus equity.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02920" y="3931920"/>
            <a:ext cx="7132320" cy="841248"/>
          </a:xfrm>
          <a:prstGeom prst="roundRect">
            <a:avLst>
              <a:gd name="adj" fmla="val 9783"/>
            </a:avLst>
          </a:prstGeom>
          <a:solidFill>
            <a:srgbClr val="1E0C13"/>
          </a:solidFill>
          <a:ln w="12700">
            <a:solidFill>
              <a:srgbClr val="43202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04088" y="4151376"/>
            <a:ext cx="402336" cy="402336"/>
          </a:xfrm>
          <a:prstGeom prst="ellipse">
            <a:avLst/>
          </a:prstGeom>
          <a:solidFill>
            <a:srgbClr val="F529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4088" y="4187952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52728" y="40599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F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iHeart put numbers to it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252728" y="4370832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C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 and Australia meet this week to confirm the structure.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02920" y="4892040"/>
            <a:ext cx="7132320" cy="841248"/>
          </a:xfrm>
          <a:prstGeom prst="roundRect">
            <a:avLst>
              <a:gd name="adj" fmla="val 9783"/>
            </a:avLst>
          </a:prstGeom>
          <a:solidFill>
            <a:srgbClr val="1E0C13"/>
          </a:solidFill>
          <a:ln w="12700">
            <a:solidFill>
              <a:srgbClr val="43202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04088" y="5111496"/>
            <a:ext cx="402336" cy="402336"/>
          </a:xfrm>
          <a:prstGeom prst="ellipse">
            <a:avLst/>
          </a:prstGeom>
          <a:solidFill>
            <a:srgbClr val="F529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4088" y="5148072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252728" y="502005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F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Announce into the season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252728" y="5330952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C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with the NFL year in front of us and the LA run ahead.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02920" y="5870448"/>
            <a:ext cx="7132320" cy="658368"/>
          </a:xfrm>
          <a:prstGeom prst="roundRect">
            <a:avLst>
              <a:gd name="adj" fmla="val 12500"/>
            </a:avLst>
          </a:prstGeom>
          <a:solidFill>
            <a:srgbClr val="2A111B"/>
          </a:solidFill>
          <a:ln w="12700">
            <a:solidFill>
              <a:srgbClr val="8C2F4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58952" y="5943600"/>
            <a:ext cx="6620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F5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market with no incumbent, a Super Bowl in your city, and a home Olympics to finish on.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9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We'd rather build it with you than around you.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02920" y="6419088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 Luke · Armchair Experts · [email] · [phone] — armchair-nfl.vercel.app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2026-08-10T09:15:05Z</dcterms:created>
  <dcterms:modified xsi:type="dcterms:W3CDTF">2026-08-10T09:15:05Z</dcterms:modified>
</cp:coreProperties>
</file>