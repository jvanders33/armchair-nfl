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34440"/>
            <a:ext cx="6126480" cy="3063240"/>
          </a:xfrm>
          <a:prstGeom prst="roundRect">
            <a:avLst>
              <a:gd name="adj" fmla="val 1791"/>
            </a:avLst>
          </a:prstGeom>
          <a:solidFill>
            <a:srgbClr val="1A0810"/>
          </a:solidFill>
          <a:ln w="31750">
            <a:solidFill>
              <a:srgbClr val="F529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5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PROPOSAL FOR TODD GURLEY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97280" y="192024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6000"/>
              </a:lnSpc>
              <a:buNone/>
            </a:pPr>
            <a:r>
              <a:rPr lang="en-US" sz="7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RUNNING</a:t>
            </a:r>
            <a:endParaRPr lang="en-US" sz="76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IT BACK</a:t>
            </a:r>
            <a:endParaRPr lang="en-US" sz="7600" dirty="0"/>
          </a:p>
        </p:txBody>
      </p:sp>
      <p:sp>
        <p:nvSpPr>
          <p:cNvPr id="5" name="Text 3"/>
          <p:cNvSpPr/>
          <p:nvPr/>
        </p:nvSpPr>
        <p:spPr>
          <a:xfrm>
            <a:off x="1143000" y="36758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NFL seasons. One Olympic Games. Both in your city.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4526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Todd Gurley</a:t>
            </a:r>
            <a:pPr indent="0" marL="0">
              <a:buNone/>
            </a:pPr>
            <a:r>
              <a:rPr lang="en-US" sz="2600" dirty="0">
                <a:solidFill>
                  <a:srgbClr val="DCC3C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·  Cam Luke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4983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iHeart America × iHeart Australia co-production — with founding equity for Todd.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0" y="123444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0956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90956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2026/27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909560" y="22402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NFL, weekly.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shows from Super Bowl LXI — SoFi, Los Angeles.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909560" y="31638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2027/28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909560" y="348386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NFL, weekly.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season, an audience that's compounding.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909560" y="44074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LA 2028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909560" y="472744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Olympics, daily.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of us in LA. A guest every show.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proposal · prepared for Todd Gurley · August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most under-served football</a:t>
            </a:r>
            <a:endParaRPr lang="en-US" sz="4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market in the world.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9659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11 September the NFL plays its first ever game in Australia — 100,000 people at the Melbourne Cricket Ground, five weeks from now. A national audience is about to arrive overnight, and there is no established local show waiting to receive it. In America that window closed a decade ago. Here it is wide open, and it needs one credible voice.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100k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MCG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Sep — the NFL's first game on Australian soil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344418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90722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#1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market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priority international market for the league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6185916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2220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voice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established Australian NFL show owns this space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9027414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73718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 yrs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NFL seasons and an Olympic Games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11183112" cy="1691640"/>
          </a:xfrm>
          <a:prstGeom prst="roundRect">
            <a:avLst>
              <a:gd name="adj" fmla="val 4865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SCHEDULING GIFT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58952" y="4983480"/>
            <a:ext cx="10671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Sunday football in America is 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 daytime in Australia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biggest day in the sport lands in the middle of the Australian working week, every week, for five months a year — and nobody is programming for it. That is not a quirk of the clock. That is an unclaimed audience with a standing appointment.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Three seasons. One finish line.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podcast that runs until it stops — a series with a destination, and the destination is your city.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606040"/>
            <a:ext cx="3605784" cy="3063240"/>
          </a:xfrm>
          <a:prstGeom prst="roundRect">
            <a:avLst>
              <a:gd name="adj" fmla="val 268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788920"/>
            <a:ext cx="3240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3072384"/>
            <a:ext cx="3240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NFL 2026/27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85800" y="3611880"/>
            <a:ext cx="32400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through the season. Todd in Los Angeles, Cam in Melbourne — remote, roughly two hours a week.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4709160"/>
            <a:ext cx="3240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Four shows on the ground at Super Bowl LXI — SoFi Stadium, LA, February 2027. Both hosts in attendance.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1584" y="2606040"/>
            <a:ext cx="3605784" cy="3063240"/>
          </a:xfrm>
          <a:prstGeom prst="roundRect">
            <a:avLst>
              <a:gd name="adj" fmla="val 268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4464" y="2788920"/>
            <a:ext cx="3240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74464" y="3072384"/>
            <a:ext cx="3240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NFL 2027/28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74464" y="3611880"/>
            <a:ext cx="32400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again, into an audience with a full year of habit behind it and a commercial story that has matured.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74464" y="4709160"/>
            <a:ext cx="3240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A second Super Bowl run to close the season out.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80248" y="2606040"/>
            <a:ext cx="3605784" cy="3063240"/>
          </a:xfrm>
          <a:prstGeom prst="roundRect">
            <a:avLst>
              <a:gd name="adj" fmla="val 268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63128" y="2788920"/>
            <a:ext cx="3240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63128" y="3072384"/>
            <a:ext cx="3240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A7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LA 2028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263128" y="3611880"/>
            <a:ext cx="32400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Olympics come to Los Angeles. The show goes daily for the Games — both hosts on the ground.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63128" y="4709160"/>
            <a:ext cx="3240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A minimum of one guest every episode. Athletes, medallists, the rooms only Todd can open.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585216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Football takes it to Los Angeles. The Olympics keep it there.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Bowl LXI: SoFi Stadium, Los Angeles, 14 February 2027 · LA28 Olympic Games: July–August 2028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You don't host it. You own it.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structure is deliberate: a guaranteed fee so your time is paid for whatever happens, and equity so that if this becomes something, you own a piece of the something. A floor and no ceiling.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2658618" cy="2103120"/>
          </a:xfrm>
          <a:prstGeom prst="roundRect">
            <a:avLst>
              <a:gd name="adj" fmla="val 3913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9224" y="3200400"/>
            <a:ext cx="23660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[$X]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9224" y="3822192"/>
            <a:ext cx="236601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episode, guaranteed. You're paid for every show you turn up to, regardless of how the business is travelling. [CONFIRM WITH IHEART]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44418" y="2743200"/>
            <a:ext cx="2658618" cy="2103120"/>
          </a:xfrm>
          <a:prstGeom prst="roundRect">
            <a:avLst>
              <a:gd name="adj" fmla="val 3913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0722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EQUITY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90722" y="3200400"/>
            <a:ext cx="23660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[X]%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490722" y="3822192"/>
            <a:ext cx="236601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stake in the show itself — advertising, sponsorship, the back catalogue, whatever it grows into. [CONFIRM WITH IHEART]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85916" y="2743200"/>
            <a:ext cx="2658618" cy="2103120"/>
          </a:xfrm>
          <a:prstGeom prst="roundRect">
            <a:avLst>
              <a:gd name="adj" fmla="val 3913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2220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32220" y="3200400"/>
            <a:ext cx="23660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iHeart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332220" y="3822192"/>
            <a:ext cx="236601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iHeart America × iHeart Australia carry production, distribution and commercial across both markets.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27414" y="2743200"/>
            <a:ext cx="2658618" cy="2103120"/>
          </a:xfrm>
          <a:prstGeom prst="roundRect">
            <a:avLst>
              <a:gd name="adj" fmla="val 3913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73718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TIME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73718" y="3200400"/>
            <a:ext cx="23660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~2 hrs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173718" y="3822192"/>
            <a:ext cx="236601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week, in season, remote from LA — plus Super Bowl week and the Games, where you're there anyway.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5029200"/>
            <a:ext cx="11183112" cy="1143000"/>
          </a:xfrm>
          <a:prstGeom prst="roundRect">
            <a:avLst>
              <a:gd name="adj" fmla="val 7200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952" y="51937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IT'S BUILT THIS WAY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58952" y="5504688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want you to make as much out of this as it can possibly make.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isn't generosity, it's alignment — the show grows fastest when the person whose name is on it has every reason to grow it. McAfee, the Kelces: every one of those started as a small show with a big name attached, and the people who took ownership early are the ones who did well out of it.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in [brackets] to be confirmed with iHeart before issue · indicative structure only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PARTNERSHIP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who played it.</a:t>
            </a:r>
            <a:endParaRPr lang="en-US" sz="4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who explains it.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02920" y="2514600"/>
            <a:ext cx="5481828" cy="2286000"/>
          </a:xfrm>
          <a:prstGeom prst="roundRect">
            <a:avLst>
              <a:gd name="adj" fmla="val 36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2724912"/>
            <a:ext cx="5042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TODD GURLEY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22376" y="3246120"/>
            <a:ext cx="50429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Three-time All-Pro. Offensive Player of the Year. A name that opens any door in the league and a perspective no Australian broadcaster can manufacture — what the game actually feels like from inside it. Based in Los Angeles: the Super Bowl city in 2027 and the Olympic city in 2028.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04204" y="2514600"/>
            <a:ext cx="5481828" cy="2286000"/>
          </a:xfrm>
          <a:prstGeom prst="roundRect">
            <a:avLst>
              <a:gd name="adj" fmla="val 36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23660" y="2724912"/>
            <a:ext cx="5042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CAM LUKE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23660" y="3246120"/>
            <a:ext cx="50429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years hosting national sports television in Australia, plus daily national radio. Knows exactly how to bring a new audience into a sport without patronising the people who already love it — and brings a built audience and platform to launch into.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98348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30368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 that's just arrived needs both: </a:t>
            </a:r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who has been in the huddle, and someone who can tell them why it matters.</a:t>
            </a:r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 without the other is every other podcast.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show launches onto</a:t>
            </a:r>
            <a:endParaRPr lang="en-US" sz="4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working platform.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deck — a live product. Every NFL game in Australian time, all 32 teams, every player, the news aggregated from a dozen mastheads, and the measurement layer that shows partners exactly what the audience did.</a:t>
            </a:r>
            <a:endParaRPr lang="en-US" sz="1450" dirty="0"/>
          </a:p>
        </p:txBody>
      </p:sp>
      <p:pic>
        <p:nvPicPr>
          <p:cNvPr id="5" name="Image 0" descr="assets/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697480"/>
            <a:ext cx="5532120" cy="3465576"/>
          </a:xfrm>
          <a:prstGeom prst="rect">
            <a:avLst/>
          </a:prstGeom>
        </p:spPr>
      </p:pic>
      <p:pic>
        <p:nvPicPr>
          <p:cNvPr id="6" name="Image 1" descr="assets/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97480"/>
            <a:ext cx="5532120" cy="34655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armchair-nfl.vercel.app — live now · AFL, NFL and NBL on one platform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Tell us the shape is right.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is, iHeart puts real numbers against the fee and the equity this week, and we paper it properly. Nothing else needs deciding today.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02920" y="3017520"/>
            <a:ext cx="3605784" cy="1783080"/>
          </a:xfrm>
          <a:prstGeom prst="roundRect">
            <a:avLst>
              <a:gd name="adj" fmla="val 461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3200400"/>
            <a:ext cx="384048" cy="384048"/>
          </a:xfrm>
          <a:prstGeom prst="ellipse">
            <a:avLst/>
          </a:prstGeom>
          <a:solidFill>
            <a:srgbClr val="F5294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2278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61288" y="3218688"/>
            <a:ext cx="276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Agree the shape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85800" y="3767328"/>
            <a:ext cx="3240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seasons, weekly NFL, daily for the Games. Fee plus equity.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1584" y="3017520"/>
            <a:ext cx="3605784" cy="1783080"/>
          </a:xfrm>
          <a:prstGeom prst="roundRect">
            <a:avLst>
              <a:gd name="adj" fmla="val 461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4464" y="3200400"/>
            <a:ext cx="384048" cy="384048"/>
          </a:xfrm>
          <a:prstGeom prst="ellipse">
            <a:avLst/>
          </a:prstGeom>
          <a:solidFill>
            <a:srgbClr val="F5294B"/>
          </a:solidFill>
          <a:ln/>
        </p:spPr>
      </p:sp>
      <p:sp>
        <p:nvSpPr>
          <p:cNvPr id="12" name="Text 10"/>
          <p:cNvSpPr/>
          <p:nvPr/>
        </p:nvSpPr>
        <p:spPr>
          <a:xfrm>
            <a:off x="4474464" y="32278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49952" y="3218688"/>
            <a:ext cx="276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iHeart put numbers to it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74464" y="3767328"/>
            <a:ext cx="3240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 and Australia meet this week to confirm the structure.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80248" y="3017520"/>
            <a:ext cx="3605784" cy="1783080"/>
          </a:xfrm>
          <a:prstGeom prst="roundRect">
            <a:avLst>
              <a:gd name="adj" fmla="val 461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63128" y="3200400"/>
            <a:ext cx="384048" cy="384048"/>
          </a:xfrm>
          <a:prstGeom prst="ellipse">
            <a:avLst/>
          </a:prstGeom>
          <a:solidFill>
            <a:srgbClr val="F5294B"/>
          </a:solidFill>
          <a:ln/>
        </p:spPr>
      </p:sp>
      <p:sp>
        <p:nvSpPr>
          <p:cNvPr id="17" name="Text 15"/>
          <p:cNvSpPr/>
          <p:nvPr/>
        </p:nvSpPr>
        <p:spPr>
          <a:xfrm>
            <a:off x="8263128" y="32278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738616" y="3218688"/>
            <a:ext cx="276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Announce into the season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3128" y="3767328"/>
            <a:ext cx="3240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with the NFL year in front of us and the LA run ahead.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507492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285232"/>
            <a:ext cx="10634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market with no incumbent, a Super Bowl in your city, and a home Olympics to finish on. </a:t>
            </a:r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We'd rather build it with you than around you.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Luke · Armchair Experts · [email] · [phone] — armchair-nfl.vercel.app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2026-08-10T06:13:31Z</dcterms:created>
  <dcterms:modified xsi:type="dcterms:W3CDTF">2026-08-10T06:13:31Z</dcterms:modified>
</cp:coreProperties>
</file>