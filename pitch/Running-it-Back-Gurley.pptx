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1280160"/>
            <a:ext cx="7863840" cy="7863840"/>
          </a:xfrm>
          <a:prstGeom prst="ellipse">
            <a:avLst/>
          </a:prstGeom>
          <a:solidFill>
            <a:srgbClr val="8C0F27">
              <a:alpha val="38000"/>
            </a:srgbClr>
          </a:solidFill>
          <a:ln w="12700">
            <a:solidFill>
              <a:srgbClr val="8C0F27">
                <a:alpha val="0"/>
              </a:srgbClr>
            </a:solidFill>
            <a:prstDash val="solid"/>
          </a:ln>
        </p:spPr>
      </p:sp>
      <p:pic>
        <p:nvPicPr>
          <p:cNvPr id="3" name="Image 0" descr="assets/img/gurl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143000"/>
            <a:ext cx="4663440" cy="45171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371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 TODD GURLEY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66344" y="1755648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5000"/>
              </a:lnSpc>
              <a:buNone/>
            </a:pPr>
            <a:r>
              <a:rPr lang="en-US" sz="88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</a:t>
            </a:r>
            <a:endParaRPr lang="en-US" sz="88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88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BACK</a:t>
            </a:r>
            <a:endParaRPr lang="en-US" sz="8800" dirty="0"/>
          </a:p>
        </p:txBody>
      </p:sp>
      <p:sp>
        <p:nvSpPr>
          <p:cNvPr id="6" name="Shape 3"/>
          <p:cNvSpPr/>
          <p:nvPr/>
        </p:nvSpPr>
        <p:spPr>
          <a:xfrm>
            <a:off x="502920" y="4041648"/>
            <a:ext cx="1828800" cy="50292"/>
          </a:xfrm>
          <a:prstGeom prst="rect">
            <a:avLst/>
          </a:prstGeom>
          <a:solidFill>
            <a:srgbClr val="F52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4261104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Two NFL seasons.</a:t>
            </a:r>
            <a:endParaRPr lang="en-US" sz="2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And a Super Bowl in your city.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02920" y="513892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pPr indent="0" marL="0">
              <a:buNone/>
            </a:pPr>
            <a:r>
              <a:rPr lang="en-US" sz="2300" dirty="0">
                <a:solidFill>
                  <a:srgbClr val="DCC3C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 ·   Cam Luke   ·   Armchair Experts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502920" y="555955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iHeart America × iHeart Australia co-production — with founding equity for Todd.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proposal · prepared for Todd Gurley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most under-served football</a:t>
            </a:r>
            <a:endParaRPr lang="en-US" sz="4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market in the world.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9202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11 September the NFL plays its first ever game in Australia — 100,000 people at the Melbourne Cricket Ground, five weeks from now. A national audience is about to arrive overnight, and there is no established local show waiting to receive it. In America that window closed a decade ago. Here it is wide open, and it needs one credible voice.</a:t>
            </a:r>
            <a:endParaRPr lang="en-US" sz="1400" dirty="0"/>
          </a:p>
        </p:txBody>
      </p:sp>
      <p:pic>
        <p:nvPicPr>
          <p:cNvPr id="5" name="Image 0" descr="assets/img/nfl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378440" y="658368"/>
            <a:ext cx="1234440" cy="1234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100k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MCG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Sep — the NFL's first game on Australian soil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3344418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90722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#1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market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priority international market for the league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6185916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2220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voice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established Australian NFL show owns this space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9027414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73718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Seasons</a:t>
            </a:r>
            <a:endParaRPr lang="en-US" sz="32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two-year run, weekly through both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502920" y="4434840"/>
            <a:ext cx="11183112" cy="1691640"/>
          </a:xfrm>
          <a:prstGeom prst="roundRect">
            <a:avLst>
              <a:gd name="adj" fmla="val 4865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8952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SCHEDULING GIFT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58952" y="4983480"/>
            <a:ext cx="10671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football in America is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daytime in Australia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biggest day in the sport lands in the middle of the Australian working week, every week, for five months a year — and nobody is programming for it. That is not a quirk of the clock. That is an unclaimed audience with a standing appointment.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 it Back.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NFL season. You bring the player's eye — what actually happens out there, what a locker room sounds like in December, who's about to get found out. Cam brings the audience that doesn't know any of it yet and desperately wants 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1005840"/>
            <a:ext cx="5120640" cy="5120640"/>
          </a:xfrm>
          <a:prstGeom prst="ellipse">
            <a:avLst/>
          </a:prstGeom>
          <a:solidFill>
            <a:srgbClr val="8C0F27">
              <a:alpha val="30000"/>
            </a:srgbClr>
          </a:solidFill>
          <a:ln w="12700">
            <a:solidFill>
              <a:srgbClr val="8C0F27">
                <a:alpha val="0"/>
              </a:srgbClr>
            </a:solidFill>
            <a:prstDash val="solid"/>
          </a:ln>
        </p:spPr>
      </p:sp>
      <p:pic>
        <p:nvPicPr>
          <p:cNvPr id="6" name="Image 0" descr="assets/img/gurl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965960"/>
            <a:ext cx="3246120" cy="3145536"/>
          </a:xfrm>
          <a:prstGeom prst="rect">
            <a:avLst/>
          </a:prstGeom>
        </p:spPr>
      </p:pic>
      <p:pic>
        <p:nvPicPr>
          <p:cNvPr id="7" name="Image 1" descr="assets/img/rams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7635240" y="4709160"/>
            <a:ext cx="777240" cy="777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2880360"/>
            <a:ext cx="6766560" cy="1024128"/>
          </a:xfrm>
          <a:prstGeom prst="roundRect">
            <a:avLst>
              <a:gd name="adj" fmla="val 803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3026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2103120" y="30083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Weekly, in season. Todd in Los Angeles, Cam in Melbourne — recorded remotely, roughly two hours a week.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4050792"/>
            <a:ext cx="6766560" cy="1024128"/>
          </a:xfrm>
          <a:prstGeom prst="roundRect">
            <a:avLst>
              <a:gd name="adj" fmla="val 803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04088" y="41970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HOOK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103120" y="41788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player's read on the tape, translated for an audience that has just arrived. One without the other is every other podcast.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5221224"/>
            <a:ext cx="6766560" cy="1024128"/>
          </a:xfrm>
          <a:prstGeom prst="roundRect">
            <a:avLst>
              <a:gd name="adj" fmla="val 803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04088" y="5367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103120" y="5349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 game, the rewatch, and the return. It works for the football, the format, and what comes after.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Two seasons. One marquee.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NFL year, twice — with the biggest week in the sport landing in the middle of it, in your city.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560320"/>
            <a:ext cx="3605784" cy="3108960"/>
          </a:xfrm>
          <a:prstGeom prst="roundRect">
            <a:avLst>
              <a:gd name="adj" fmla="val 264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560320"/>
            <a:ext cx="3605784" cy="68580"/>
          </a:xfrm>
          <a:prstGeom prst="rect">
            <a:avLst/>
          </a:prstGeom>
          <a:solidFill>
            <a:srgbClr val="F52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779776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3054096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2026/27</a:t>
            </a:r>
            <a:endParaRPr lang="en-US" sz="3000" dirty="0"/>
          </a:p>
        </p:txBody>
      </p:sp>
      <p:pic>
        <p:nvPicPr>
          <p:cNvPr id="9" name="Image 0" descr="assets/img/nfl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3240024" y="301752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361188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season. Todd in Los Angeles, Cam in Melbourne — recorded remotely, roughly two hours a week.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61772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into the MCG game, when the whole country is watching football for the first time.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91584" y="2560320"/>
            <a:ext cx="3605784" cy="3108960"/>
          </a:xfrm>
          <a:prstGeom prst="roundRect">
            <a:avLst>
              <a:gd name="adj" fmla="val 2647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1584" y="2560320"/>
            <a:ext cx="3605784" cy="100584"/>
          </a:xfrm>
          <a:prstGeom prst="rect">
            <a:avLst/>
          </a:prstGeom>
          <a:solidFill>
            <a:srgbClr val="FFB0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74464" y="2779776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MARQUEE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74464" y="3054096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SUPER BOWL LXI</a:t>
            </a:r>
            <a:endParaRPr lang="en-US" sz="2600" dirty="0"/>
          </a:p>
        </p:txBody>
      </p:sp>
      <p:pic>
        <p:nvPicPr>
          <p:cNvPr id="16" name="Image 1" descr="assets/img/rams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7028688" y="30175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74464" y="361188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 Stadium, Los Angeles — February 2027. Four shows on the ground across the week, both hosts in attendance.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74464" y="461772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The biggest week in the sport, in Todd's own city, with the show already a season old.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080248" y="2560320"/>
            <a:ext cx="3605784" cy="3108960"/>
          </a:xfrm>
          <a:prstGeom prst="roundRect">
            <a:avLst>
              <a:gd name="adj" fmla="val 264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80248" y="2560320"/>
            <a:ext cx="3605784" cy="68580"/>
          </a:xfrm>
          <a:prstGeom prst="rect">
            <a:avLst/>
          </a:prstGeom>
          <a:solidFill>
            <a:srgbClr val="5AA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263128" y="2779776"/>
            <a:ext cx="3240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 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263128" y="3054096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A7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NFL 2027/28</a:t>
            </a:r>
            <a:endParaRPr lang="en-US" sz="3000" dirty="0"/>
          </a:p>
        </p:txBody>
      </p:sp>
      <p:pic>
        <p:nvPicPr>
          <p:cNvPr id="23" name="Image 2" descr="assets/img/nfl.png">    </p:cNvPr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10817352" y="301752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63128" y="361188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again, into an audience with a full year of habit behind it and a commercial story that has matured.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263128" y="4617720"/>
            <a:ext cx="3240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Super Bowl run to close it out — and a show with real momentum behind it.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02920" y="587044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Two full seasons, and the Super Bowl comes to you.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Bowl LXI: SoFi Stadium, Los Angeles, 14 February 2027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played it.</a:t>
            </a:r>
            <a:endParaRPr lang="en-US" sz="4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who explains it.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481828" cy="3246120"/>
          </a:xfrm>
          <a:prstGeom prst="roundRect">
            <a:avLst>
              <a:gd name="adj" fmla="val 253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" y="2304288"/>
            <a:ext cx="1737360" cy="1737360"/>
          </a:xfrm>
          <a:prstGeom prst="ellipse">
            <a:avLst/>
          </a:prstGeom>
          <a:solidFill>
            <a:srgbClr val="8C0F27">
              <a:alpha val="30000"/>
            </a:srgbClr>
          </a:solidFill>
          <a:ln w="12700">
            <a:solidFill>
              <a:srgbClr val="8C0F27">
                <a:alpha val="0"/>
              </a:srgbClr>
            </a:solidFill>
            <a:prstDash val="solid"/>
          </a:ln>
        </p:spPr>
      </p:sp>
      <p:pic>
        <p:nvPicPr>
          <p:cNvPr id="6" name="Image 0" descr="assets/img/gurley-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1600200" cy="1600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2670048"/>
            <a:ext cx="2967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2788920" y="3163824"/>
            <a:ext cx="2967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95528" y="4206240"/>
            <a:ext cx="48966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Three-time All-Pro. Offensive Player of the Year. First-round pick, 2015. A name that opens any door in the league — and a read on the game no Australian broadcaster can manufacture.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04204" y="2103120"/>
            <a:ext cx="5481828" cy="3246120"/>
          </a:xfrm>
          <a:prstGeom prst="roundRect">
            <a:avLst>
              <a:gd name="adj" fmla="val 253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8252" y="2304288"/>
            <a:ext cx="1737360" cy="1737360"/>
          </a:xfrm>
          <a:prstGeom prst="ellipse">
            <a:avLst/>
          </a:prstGeom>
          <a:solidFill>
            <a:srgbClr val="8C0F27">
              <a:alpha val="30000"/>
            </a:srgbClr>
          </a:solidFill>
          <a:ln w="12700">
            <a:solidFill>
              <a:srgbClr val="8C0F27">
                <a:alpha val="0"/>
              </a:srgbClr>
            </a:solidFill>
            <a:prstDash val="solid"/>
          </a:ln>
        </p:spPr>
      </p:sp>
      <p:pic>
        <p:nvPicPr>
          <p:cNvPr id="12" name="Image 1" descr="assets/img/cam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377440"/>
            <a:ext cx="1600200" cy="1600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90204" y="2670048"/>
            <a:ext cx="2967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CAM LUKE</a:t>
            </a:r>
            <a:endParaRPr lang="en-US" sz="2900" dirty="0"/>
          </a:p>
        </p:txBody>
      </p:sp>
      <p:sp>
        <p:nvSpPr>
          <p:cNvPr id="14" name="Text 10"/>
          <p:cNvSpPr/>
          <p:nvPr/>
        </p:nvSpPr>
        <p:spPr>
          <a:xfrm>
            <a:off x="8490204" y="3163824"/>
            <a:ext cx="2967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Melbourne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96812" y="4206240"/>
            <a:ext cx="48966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years hosting national sports television, plus daily national radio. Knows how to bring a brand-new audience into a sport without patronising the people who already love it.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5559552"/>
            <a:ext cx="11183112" cy="713232"/>
          </a:xfrm>
          <a:prstGeom prst="roundRect">
            <a:avLst>
              <a:gd name="adj" fmla="val 11538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7240" y="563270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 that's just arrived needs both: </a:t>
            </a:r>
            <a:pPr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who has been in the huddle, and someone who can tell them why it matters.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 don't host it. You own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810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is deliberate: a guaranteed fee so your time is paid for whatever happens, and equity so that if this becomes something, you own a piece of the something. A floor, and no ceiling.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2658618" cy="2148840"/>
          </a:xfrm>
          <a:prstGeom prst="roundRect">
            <a:avLst>
              <a:gd name="adj" fmla="val 383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871216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9224" y="3145536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[$X]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9224" y="3767328"/>
            <a:ext cx="236601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episode, guaranteed. You're paid for every show you turn up to, regardless of how the business is travelling.  [CONFIRM WITH IHEART]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4418" y="2697480"/>
            <a:ext cx="2658618" cy="2148840"/>
          </a:xfrm>
          <a:prstGeom prst="roundRect">
            <a:avLst>
              <a:gd name="adj" fmla="val 383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722" y="2871216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0722" y="3145536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[X]%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90722" y="3767328"/>
            <a:ext cx="236601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stake in the show itself — advertising, sponsorship, the back catalogue, whatever it grows into.  [CONFIRM WITH IHEART]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5916" y="2697480"/>
            <a:ext cx="2658618" cy="2148840"/>
          </a:xfrm>
          <a:prstGeom prst="roundRect">
            <a:avLst>
              <a:gd name="adj" fmla="val 383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2871216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3145536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32220" y="3767328"/>
            <a:ext cx="236601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iHeart America × iHeart Australia carry production, distribution and commercial across both markets.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7414" y="2697480"/>
            <a:ext cx="2658618" cy="2148840"/>
          </a:xfrm>
          <a:prstGeom prst="roundRect">
            <a:avLst>
              <a:gd name="adj" fmla="val 383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3718" y="2871216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73718" y="3145536"/>
            <a:ext cx="23660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~2 hrs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173718" y="3767328"/>
            <a:ext cx="236601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week, in season, remote from LA — plus Super Bowl week, which is on your doorstep anyway.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02920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193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BUILT THIS WAY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8952" y="550468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you to make as much out of this as it can possibly make.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isn't generosity, it's alignment — a show grows fastest when the person whose name is on it has every reason to grow it. McAfee, the Kelces: every one of those started as a small show with a big name attached, and the people who took ownership early are the ones who did well out of it.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in [brackets] to be confirmed with iHeart before issue · indicative structure only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694944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launches onto a platform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that already works.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deck — a live product. Every NFL game in Australian time, all 32 teams, every player, news aggregated from a dozen mastheads, and the measurement layer that shows partners exactly what the audience did.</a:t>
            </a:r>
            <a:endParaRPr lang="en-US" sz="1400" dirty="0"/>
          </a:p>
        </p:txBody>
      </p:sp>
      <p:pic>
        <p:nvPicPr>
          <p:cNvPr id="5" name="Image 0" descr="asset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51760"/>
            <a:ext cx="5532120" cy="3465576"/>
          </a:xfrm>
          <a:prstGeom prst="rect">
            <a:avLst/>
          </a:prstGeom>
        </p:spPr>
      </p:pic>
      <p:pic>
        <p:nvPicPr>
          <p:cNvPr id="6" name="Image 1" descr="assets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51760"/>
            <a:ext cx="5532120" cy="34655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 — live now · AFL, NFL and NBL on one platform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48640"/>
            <a:ext cx="6583680" cy="6583680"/>
          </a:xfrm>
          <a:prstGeom prst="ellipse">
            <a:avLst/>
          </a:prstGeom>
          <a:solidFill>
            <a:srgbClr val="8C0F27">
              <a:alpha val="32000"/>
            </a:srgbClr>
          </a:solidFill>
          <a:ln w="12700">
            <a:solidFill>
              <a:srgbClr val="8C0F27">
                <a:alpha val="0"/>
              </a:srgbClr>
            </a:solidFill>
            <a:prstDash val="solid"/>
          </a:ln>
        </p:spPr>
      </p:sp>
      <p:pic>
        <p:nvPicPr>
          <p:cNvPr id="3" name="Image 0" descr="assets/img/gurl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2057400"/>
            <a:ext cx="3657600" cy="35387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84632" y="694944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Tell us the shape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 right.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02920" y="20116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is, iHeart puts real numbers against the fee and the equity this week, and we paper it properly. Nothing else needs deciding today.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2971800"/>
            <a:ext cx="7132320" cy="841248"/>
          </a:xfrm>
          <a:prstGeom prst="roundRect">
            <a:avLst>
              <a:gd name="adj" fmla="val 978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4088" y="3191256"/>
            <a:ext cx="402336" cy="402336"/>
          </a:xfrm>
          <a:prstGeom prst="ellipse">
            <a:avLst/>
          </a:prstGeom>
          <a:solidFill>
            <a:srgbClr val="F52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3227832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52728" y="309981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Agree the shape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252728" y="341071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NFL seasons, weekly, plus Super Bowl week. Fee and equity.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931920"/>
            <a:ext cx="7132320" cy="841248"/>
          </a:xfrm>
          <a:prstGeom prst="roundRect">
            <a:avLst>
              <a:gd name="adj" fmla="val 978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4088" y="4151376"/>
            <a:ext cx="402336" cy="402336"/>
          </a:xfrm>
          <a:prstGeom prst="ellipse">
            <a:avLst/>
          </a:prstGeom>
          <a:solidFill>
            <a:srgbClr val="F52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04088" y="4187952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52728" y="40599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 put numbers to 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252728" y="437083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 and Australia meet this week to confirm the structure.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4892040"/>
            <a:ext cx="7132320" cy="841248"/>
          </a:xfrm>
          <a:prstGeom prst="roundRect">
            <a:avLst>
              <a:gd name="adj" fmla="val 978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4088" y="5111496"/>
            <a:ext cx="402336" cy="402336"/>
          </a:xfrm>
          <a:prstGeom prst="ellipse">
            <a:avLst/>
          </a:prstGeom>
          <a:solidFill>
            <a:srgbClr val="F52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4088" y="5148072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52728" y="50200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Announce into the season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252728" y="533095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with the NFL year in front of us and the Super Bowl ahead.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02920" y="5870448"/>
            <a:ext cx="7132320" cy="658368"/>
          </a:xfrm>
          <a:prstGeom prst="roundRect">
            <a:avLst>
              <a:gd name="adj" fmla="val 1250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952" y="5943600"/>
            <a:ext cx="6620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 with no incumbent, a Super Bowl in your city, and a two-year run to build it.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build it with you than around you.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02920" y="6419088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Luke · Armchair Experts · [email] · [phone] — armchair-nfl.vercel.app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2026-08-12T21:30:34Z</dcterms:created>
  <dcterms:modified xsi:type="dcterms:W3CDTF">2026-08-12T21:30:34Z</dcterms:modified>
</cp:coreProperties>
</file>