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407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371600"/>
            <a:ext cx="6035040" cy="3017520"/>
          </a:xfrm>
          <a:prstGeom prst="roundRect">
            <a:avLst>
              <a:gd name="adj" fmla="val 1818"/>
            </a:avLst>
          </a:prstGeom>
          <a:solidFill>
            <a:srgbClr val="1A0810"/>
          </a:solidFill>
          <a:ln w="31750">
            <a:solidFill>
              <a:srgbClr val="F529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300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5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PROPOSAL FOR TODD GURLEY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97280" y="20574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6000"/>
              </a:lnSpc>
              <a:buNone/>
            </a:pPr>
            <a:r>
              <a:rPr lang="en-US" sz="76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RUNNING</a:t>
            </a:r>
            <a:endParaRPr lang="en-US" sz="760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76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IT BACK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11430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iHeart America × iHeart Australia co-production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4663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Todd Gurley</a:t>
            </a:r>
            <a:pPr indent="0" marL="0">
              <a:buNone/>
            </a:pPr>
            <a:r>
              <a:rPr lang="en-US" sz="2400" dirty="0">
                <a:solidFill>
                  <a:srgbClr val="DCC3C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  ·  Cam Luke  ·  Armchair Experts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68680" y="51206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Founding equity in the show that owns American football in Australia.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80960" y="1371600"/>
            <a:ext cx="3657600" cy="4297680"/>
          </a:xfrm>
          <a:prstGeom prst="roundRect">
            <a:avLst>
              <a:gd name="adj" fmla="val 2250"/>
            </a:avLst>
          </a:prstGeom>
          <a:solidFill>
            <a:srgbClr val="2A111B"/>
          </a:solidFill>
          <a:ln w="12700">
            <a:solidFill>
              <a:srgbClr val="3A5F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0956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90956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11 SEP 2026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909560" y="2368296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NFL plays its first ever game in Australia — 100,000 at the MCG.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909560" y="32644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 NEW MARKET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909560" y="3575304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American football is the fastest-growing sport in Australia, with no dominant local voice.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909560" y="44714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FIRST MOVER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909560" y="47823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 that owns this moment owns the category for a decade.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proposal · prepared for Todd Gurley · August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 country discovers the NFL —</a:t>
            </a:r>
            <a:endParaRPr lang="en-US" sz="4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in one night.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11 September 2026 the 49ers and Rams play a regular-season game at the Melbourne Cricket Ground. It is the NFL's first game in Australia, in a 100,000-seat stadium, in the country's sporting cathedral. Every Australian sports fan will be watching something they've never seen before.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100k</a:t>
            </a:r>
            <a:endParaRPr lang="en-US" sz="33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MCG</a:t>
            </a:r>
            <a:endParaRPr lang="en-US" sz="33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NFL's first game on Australian soil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3344418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90722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#1</a:t>
            </a:r>
            <a:endParaRPr lang="en-US" sz="33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market</a:t>
            </a:r>
            <a:endParaRPr lang="en-US" sz="33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Australia is a priority international market for the league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6185916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32220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</a:t>
            </a:r>
            <a:endParaRPr lang="en-US" sz="33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 voice</a:t>
            </a:r>
            <a:endParaRPr lang="en-US" sz="33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established Australian NFL show owns this space</a:t>
            </a:r>
            <a:endParaRPr lang="en-US" sz="3300" dirty="0"/>
          </a:p>
        </p:txBody>
      </p:sp>
      <p:sp>
        <p:nvSpPr>
          <p:cNvPr id="11" name="Shape 9"/>
          <p:cNvSpPr/>
          <p:nvPr/>
        </p:nvSpPr>
        <p:spPr>
          <a:xfrm>
            <a:off x="9027414" y="2743200"/>
            <a:ext cx="2658618" cy="1371600"/>
          </a:xfrm>
          <a:prstGeom prst="roundRect">
            <a:avLst>
              <a:gd name="adj" fmla="val 60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73718" y="2871216"/>
            <a:ext cx="236601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B0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 wks</a:t>
            </a:r>
            <a:endParaRPr lang="en-US" sz="3300" dirty="0"/>
          </a:p>
          <a:p>
            <a:pPr indent="0" marL="0">
              <a:lnSpc>
                <a:spcPct val="98000"/>
              </a:lnSpc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kick-off</a:t>
            </a:r>
            <a:endParaRPr lang="en-US" sz="3300" dirty="0"/>
          </a:p>
          <a:p>
            <a:pPr indent="0" marL="0">
              <a:lnSpc>
                <a:spcPct val="9800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window to launch into the moment is now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502920" y="4434840"/>
            <a:ext cx="11183112" cy="1691640"/>
          </a:xfrm>
          <a:prstGeom prst="roundRect">
            <a:avLst>
              <a:gd name="adj" fmla="val 4865"/>
            </a:avLst>
          </a:prstGeom>
          <a:solidFill>
            <a:srgbClr val="2A111B"/>
          </a:solidFill>
          <a:ln w="12700">
            <a:solidFill>
              <a:srgbClr val="3A5F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58952" y="4983480"/>
            <a:ext cx="10671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Sunday football in America is </a:t>
            </a:r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Monday daytime in Australia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Every week, the best day of American sport lands in the middle of the Australian working week — and nobody is programming for it. That's not a scheduling quirk. That's an unclaimed audience, every single week, for five months a year.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it Back · an iHeart America × iHeart Australia co-production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Running it Back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weekly NFL show for the Australian market, hosted by Todd Gurley and Cam Luke — an All-Pro who lived it and a broadcaster who translates it. Recorded remotely, released for the Australian Monday.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74320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944368"/>
            <a:ext cx="3240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FORMAT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85800" y="3310128"/>
            <a:ext cx="3240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through the NFL season. What happened, what it means, and what to watch — with a player's eye on the tape and a broadcaster's ear for the audience that's just arriving.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1584" y="274320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74464" y="2944368"/>
            <a:ext cx="3240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74464" y="3310128"/>
            <a:ext cx="3240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Todd brings the credibility no Australian show can manufacture: three-time All-Pro, Offensive Player of the Year, a name that opens every door in the league. Cam brings seven years of national broadcast and a built audience.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80248" y="274320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63128" y="2944368"/>
            <a:ext cx="3240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COMMITMENT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63128" y="3310128"/>
            <a:ext cx="32400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Roughly two hours a week, remote, in season. Production, editing, distribution and commercial all carried by iHeart and the Armchair team. [CONFIRM: recording cadence &amp; windows]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5230368"/>
            <a:ext cx="11183112" cy="914400"/>
          </a:xfrm>
          <a:prstGeom prst="roundRect">
            <a:avLst>
              <a:gd name="adj" fmla="val 9000"/>
            </a:avLst>
          </a:prstGeom>
          <a:solidFill>
            <a:srgbClr val="2A111B"/>
          </a:solidFill>
          <a:ln w="12700">
            <a:solidFill>
              <a:srgbClr val="3A5F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" y="5440680"/>
            <a:ext cx="10671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name: </a:t>
            </a:r>
            <a:pPr indent="0" marL="0">
              <a:buNone/>
            </a:pPr>
            <a:r>
              <a:rPr lang="en-US" sz="20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Running it Back</a:t>
            </a:r>
            <a:pPr indent="0" marL="0">
              <a:buNone/>
            </a:pPr>
            <a:r>
              <a:rPr lang="en-US" sz="13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the run game, the rewatch, and the return. It works for the football, for the format, and for what comes after it.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it Back · an iHeart America × iHeart Australia co-production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Three seasons, one story.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isn't a one-season podcast. It's a three-year run at a market that opens in September and peaks in Los Angeles.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743200"/>
            <a:ext cx="3605784" cy="2606040"/>
          </a:xfrm>
          <a:prstGeom prst="roundRect">
            <a:avLst>
              <a:gd name="adj" fmla="val 3158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926080"/>
            <a:ext cx="3240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85800" y="3520440"/>
            <a:ext cx="3240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LAUNCH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3858768"/>
            <a:ext cx="3240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MCG game lands and a country pays attention for the first time. Running it Back launches into the wave with the NFL season behind it.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1584" y="2743200"/>
            <a:ext cx="3605784" cy="2606040"/>
          </a:xfrm>
          <a:prstGeom prst="roundRect">
            <a:avLst>
              <a:gd name="adj" fmla="val 3158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74464" y="2926080"/>
            <a:ext cx="3240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B0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2027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474464" y="3520440"/>
            <a:ext cx="3240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HABIT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74464" y="3858768"/>
            <a:ext cx="3240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season builds the weekly ritual — Monday mornings become Running it Back. The audience compounds; the commercial story matures.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80248" y="2743200"/>
            <a:ext cx="3605784" cy="2606040"/>
          </a:xfrm>
          <a:prstGeom prst="roundRect">
            <a:avLst>
              <a:gd name="adj" fmla="val 3158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3128" y="2926080"/>
            <a:ext cx="3240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AA7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2028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263128" y="3520440"/>
            <a:ext cx="3240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&amp; THE GAMES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63128" y="3858768"/>
            <a:ext cx="32400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Olympics come to Todd's city. A track-and-field pedigree plus an NFL platform makes him the only voice who can carry both — and the show runs it back to where it started. [SCOPE TBC]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562356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show with a destination is worth more than a show with a schedule — to audiences, to partners, and to the people who own it.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it Back · an iHeart America × iHeart Australia co-production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PROPOSAL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You don't host it. You own it.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not a fee-for-appearance. It's founding equity in a media property built for a market at its starting line — structured so that the upside belongs to the people who make it work.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743200"/>
            <a:ext cx="2658618" cy="2011680"/>
          </a:xfrm>
          <a:prstGeom prst="roundRect">
            <a:avLst>
              <a:gd name="adj" fmla="val 4091"/>
            </a:avLst>
          </a:prstGeom>
          <a:solidFill>
            <a:srgbClr val="2A111B"/>
          </a:solidFill>
          <a:ln w="12700">
            <a:solidFill>
              <a:srgbClr val="8C2F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2926080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9224" y="3218688"/>
            <a:ext cx="23660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294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[X]%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49224" y="3822192"/>
            <a:ext cx="23660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Founding stake in the show entity, alongside iHeart and Armchair. [CONFIRM STRUCTURE]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44418" y="2743200"/>
            <a:ext cx="2658618" cy="2011680"/>
          </a:xfrm>
          <a:prstGeom prst="roundRect">
            <a:avLst>
              <a:gd name="adj" fmla="val 4091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90722" y="2926080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BACKING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90722" y="3218688"/>
            <a:ext cx="23660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iHeart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490722" y="3822192"/>
            <a:ext cx="23660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iHeart America × iHeart Australia co-production: production, distribution and commercial sales across both markets. [CONFIRM COMMITMENTS]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85916" y="2743200"/>
            <a:ext cx="2658618" cy="2011680"/>
          </a:xfrm>
          <a:prstGeom prst="roundRect">
            <a:avLst>
              <a:gd name="adj" fmla="val 4091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32220" y="2926080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32220" y="3218688"/>
            <a:ext cx="23660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[$X]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332220" y="3822192"/>
            <a:ext cx="23660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base per-episode fee alongside the equity, scaling with audience milestones. [CONFIRM MIX]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027414" y="2743200"/>
            <a:ext cx="2658618" cy="2011680"/>
          </a:xfrm>
          <a:prstGeom prst="roundRect">
            <a:avLst>
              <a:gd name="adj" fmla="val 4091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73718" y="2926080"/>
            <a:ext cx="2366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INPUT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173718" y="3218688"/>
            <a:ext cx="23660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~2 hrs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9173718" y="3822192"/>
            <a:ext cx="23660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week, in season, remote. Everything else is carried.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4956048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2A111B"/>
          </a:solidFill>
          <a:ln w="12700">
            <a:solidFill>
              <a:srgbClr val="3A5F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8952" y="5120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COMPARISON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58952" y="5440680"/>
            <a:ext cx="10671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 McAfee licensed his show to ESPN while keeping ownership. The Kelces took New Heights to Amazon. Athlete-owned media is now an asset class — and every one of those deals started as a small show with a big name attached. This is that entry point, in a market with no competition for the seat.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in [brackets] to be confirmed with iHeart before issue · indicative structure only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C5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ALREADY EXISTS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84632" y="713232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Not a pitch deck. A platform.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 launches onto infrastructure that's already built and running on live data — every NFL game in Australian time, all 32 teams, every player, and the measurement layer that proves what the audience does.</a:t>
            </a:r>
            <a:endParaRPr lang="en-US" sz="1450" dirty="0"/>
          </a:p>
        </p:txBody>
      </p:sp>
      <p:pic>
        <p:nvPicPr>
          <p:cNvPr id="5" name="Image 0" descr="assets/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697480"/>
            <a:ext cx="5532120" cy="3465576"/>
          </a:xfrm>
          <a:prstGeom prst="rect">
            <a:avLst/>
          </a:prstGeom>
        </p:spPr>
      </p:pic>
      <p:pic>
        <p:nvPicPr>
          <p:cNvPr id="6" name="Image 1" descr="assets/h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697480"/>
            <a:ext cx="5532120" cy="34655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armchair-nfl.vercel.app — live now · built on the Armchair data engine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4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407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713232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Say yes to season one.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season. Your name, your voice, your equity. iHeart papers the deal and carries the production; Cam and the Armchair team carry the craft; the platform carries the audience.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02920" y="3017520"/>
            <a:ext cx="3605784" cy="1737360"/>
          </a:xfrm>
          <a:prstGeom prst="roundRect">
            <a:avLst>
              <a:gd name="adj" fmla="val 4737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3200400"/>
            <a:ext cx="384048" cy="384048"/>
          </a:xfrm>
          <a:prstGeom prst="ellipse">
            <a:avLst/>
          </a:prstGeom>
          <a:solidFill>
            <a:srgbClr val="F5294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227832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61288" y="3218688"/>
            <a:ext cx="276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Agree the structure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85800" y="3767328"/>
            <a:ext cx="3240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Equity, fee and term with iHeart. [TARGET: week of ___]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1584" y="3017520"/>
            <a:ext cx="3605784" cy="1737360"/>
          </a:xfrm>
          <a:prstGeom prst="roundRect">
            <a:avLst>
              <a:gd name="adj" fmla="val 4737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74464" y="3200400"/>
            <a:ext cx="384048" cy="384048"/>
          </a:xfrm>
          <a:prstGeom prst="ellipse">
            <a:avLst/>
          </a:prstGeom>
          <a:solidFill>
            <a:srgbClr val="F5294B"/>
          </a:solidFill>
          <a:ln/>
        </p:spPr>
      </p:sp>
      <p:sp>
        <p:nvSpPr>
          <p:cNvPr id="13" name="Text 11"/>
          <p:cNvSpPr/>
          <p:nvPr/>
        </p:nvSpPr>
        <p:spPr>
          <a:xfrm>
            <a:off x="4474464" y="3227832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949952" y="3218688"/>
            <a:ext cx="276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Announce into the moment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474464" y="3767328"/>
            <a:ext cx="3240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Reveal ahead of the MCG game — the launch has its own news cycle.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80248" y="3017520"/>
            <a:ext cx="3605784" cy="1737360"/>
          </a:xfrm>
          <a:prstGeom prst="roundRect">
            <a:avLst>
              <a:gd name="adj" fmla="val 4737"/>
            </a:avLst>
          </a:prstGeom>
          <a:solidFill>
            <a:srgbClr val="1E0C13"/>
          </a:solidFill>
          <a:ln w="12700">
            <a:solidFill>
              <a:srgbClr val="43202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63128" y="3200400"/>
            <a:ext cx="384048" cy="384048"/>
          </a:xfrm>
          <a:prstGeom prst="ellipse">
            <a:avLst/>
          </a:prstGeom>
          <a:solidFill>
            <a:srgbClr val="F5294B"/>
          </a:solidFill>
          <a:ln/>
        </p:spPr>
      </p:sp>
      <p:sp>
        <p:nvSpPr>
          <p:cNvPr id="18" name="Text 16"/>
          <p:cNvSpPr/>
          <p:nvPr/>
        </p:nvSpPr>
        <p:spPr>
          <a:xfrm>
            <a:off x="8263128" y="3227832"/>
            <a:ext cx="384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738616" y="3218688"/>
            <a:ext cx="2764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F3F5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First episode, Week 1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263128" y="3767328"/>
            <a:ext cx="32400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CC3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Recording remote, releasing for the Australian Monday.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5029200"/>
            <a:ext cx="11183112" cy="1097280"/>
          </a:xfrm>
          <a:prstGeom prst="roundRect">
            <a:avLst>
              <a:gd name="adj" fmla="val 7500"/>
            </a:avLst>
          </a:prstGeom>
          <a:solidFill>
            <a:srgbClr val="2A111B"/>
          </a:solidFill>
          <a:ln w="12700">
            <a:solidFill>
              <a:srgbClr val="8C2F4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230368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F5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MCG game happens once. </a:t>
            </a:r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F9F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 that owns that moment owns American football in Australia — and we'd rather build it with you than around you.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2920" y="6400800"/>
            <a:ext cx="11183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57E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 Luke · Armchair Experts · [email] · [phone] — armchair-nfl.vercel.app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2026-08-07T07:20:20Z</dcterms:created>
  <dcterms:modified xsi:type="dcterms:W3CDTF">2026-08-07T07:20:20Z</dcterms:modified>
</cp:coreProperties>
</file>